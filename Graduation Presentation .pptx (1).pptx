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Cormorant Garamond Bold Italics" charset="1" panose="00000800000000000000"/>
      <p:regular r:id="rId29"/>
    </p:embeddedFont>
    <p:embeddedFont>
      <p:font typeface="Quicksand" charset="1" panose="00000000000000000000"/>
      <p:regular r:id="rId30"/>
    </p:embeddedFont>
    <p:embeddedFont>
      <p:font typeface="Quicksand Bold" charset="1" panose="00000000000000000000"/>
      <p:regular r:id="rId31"/>
    </p:embeddedFont>
    <p:embeddedFont>
      <p:font typeface="Cloud Bold" charset="1" panose="02000000000000000000"/>
      <p:regular r:id="rId32"/>
    </p:embeddedFont>
    <p:embeddedFont>
      <p:font typeface="Arimo Bold" charset="1" panose="020B0704020202020204"/>
      <p:regular r:id="rId33"/>
    </p:embeddedFont>
    <p:embeddedFont>
      <p:font typeface="Arimo" charset="1" panose="020B0604020202020204"/>
      <p:regular r:id="rId34"/>
    </p:embeddedFont>
    <p:embeddedFont>
      <p:font typeface="Canva Sans Bold" charset="1" panose="020B0803030501040103"/>
      <p:regular r:id="rId35"/>
    </p:embeddedFont>
    <p:embeddedFont>
      <p:font typeface="March" charset="1" panose="02000500000000000000"/>
      <p:regular r:id="rId36"/>
    </p:embeddedFont>
    <p:embeddedFont>
      <p:font typeface="Canva Sans" charset="1" panose="020B0503030501040103"/>
      <p:regular r:id="rId37"/>
    </p:embeddedFont>
    <p:embeddedFont>
      <p:font typeface="Cormorant Garamond Bold" charset="1" panose="00000800000000000000"/>
      <p:regular r:id="rId38"/>
    </p:embeddedFont>
    <p:embeddedFont>
      <p:font typeface="Amiri Bold" charset="1" panose="00000500000000000000"/>
      <p:regular r:id="rId39"/>
    </p:embeddedFont>
    <p:embeddedFont>
      <p:font typeface="Amiri" charset="1" panose="00000500000000000000"/>
      <p:regular r:id="rId40"/>
    </p:embeddedFont>
    <p:embeddedFont>
      <p:font typeface="Inter" charset="1" panose="02000503000000020004"/>
      <p:regular r:id="rId41"/>
    </p:embeddedFont>
    <p:embeddedFont>
      <p:font typeface="Inter Bold" charset="1" panose="020005030000000200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5.jpe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jpe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5.jpeg" Type="http://schemas.openxmlformats.org/officeDocument/2006/relationships/image"/><Relationship Id="rId5"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https://drive.google.com/drive/folders/19qkIIfNyNEL41zi2pb7RdEM8P8dwkBjn?usp=drive_link"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svg" Type="http://schemas.openxmlformats.org/officeDocument/2006/relationships/image"/><Relationship Id="rId11" Target="../media/image46.png" Type="http://schemas.openxmlformats.org/officeDocument/2006/relationships/image"/><Relationship Id="rId12" Target="../media/image47.svg" Type="http://schemas.openxmlformats.org/officeDocument/2006/relationships/image"/><Relationship Id="rId13" Target="../media/image48.png" Type="http://schemas.openxmlformats.org/officeDocument/2006/relationships/image"/><Relationship Id="rId14" Target="../media/image49.svg" Type="http://schemas.openxmlformats.org/officeDocument/2006/relationships/image"/><Relationship Id="rId15" Target="../media/image50.png" Type="http://schemas.openxmlformats.org/officeDocument/2006/relationships/image"/><Relationship Id="rId16" Target="../media/image51.svg" Type="http://schemas.openxmlformats.org/officeDocument/2006/relationships/image"/><Relationship Id="rId17" Target="../media/image52.png" Type="http://schemas.openxmlformats.org/officeDocument/2006/relationships/image"/><Relationship Id="rId18" Target="../media/image53.svg" Type="http://schemas.openxmlformats.org/officeDocument/2006/relationships/image"/><Relationship Id="rId19" Target="../media/image54.png" Type="http://schemas.openxmlformats.org/officeDocument/2006/relationships/image"/><Relationship Id="rId2" Target="../media/image38.png" Type="http://schemas.openxmlformats.org/officeDocument/2006/relationships/image"/><Relationship Id="rId20" Target="../media/image55.svg" Type="http://schemas.openxmlformats.org/officeDocument/2006/relationships/image"/><Relationship Id="rId21" Target="../media/image56.png" Type="http://schemas.openxmlformats.org/officeDocument/2006/relationships/image"/><Relationship Id="rId22" Target="../media/image57.svg" Type="http://schemas.openxmlformats.org/officeDocument/2006/relationships/image"/><Relationship Id="rId23" Target="../media/image58.png" Type="http://schemas.openxmlformats.org/officeDocument/2006/relationships/image"/><Relationship Id="rId24" Target="../media/image59.svg" Type="http://schemas.openxmlformats.org/officeDocument/2006/relationships/image"/><Relationship Id="rId25" Target="../media/image60.png" Type="http://schemas.openxmlformats.org/officeDocument/2006/relationships/image"/><Relationship Id="rId26" Target="../media/image61.svg" Type="http://schemas.openxmlformats.org/officeDocument/2006/relationships/image"/><Relationship Id="rId27" Target="../media/image62.png" Type="http://schemas.openxmlformats.org/officeDocument/2006/relationships/image"/><Relationship Id="rId28" Target="../media/image63.svg" Type="http://schemas.openxmlformats.org/officeDocument/2006/relationships/image"/><Relationship Id="rId29" Target="../media/image64.png" Type="http://schemas.openxmlformats.org/officeDocument/2006/relationships/image"/><Relationship Id="rId3" Target="../media/image39.svg" Type="http://schemas.openxmlformats.org/officeDocument/2006/relationships/image"/><Relationship Id="rId30" Target="../media/image65.svg" Type="http://schemas.openxmlformats.org/officeDocument/2006/relationships/image"/><Relationship Id="rId31" Target="../media/image66.png" Type="http://schemas.openxmlformats.org/officeDocument/2006/relationships/image"/><Relationship Id="rId32" Target="../media/image67.svg" Type="http://schemas.openxmlformats.org/officeDocument/2006/relationships/image"/><Relationship Id="rId33" Target="../media/image68.png" Type="http://schemas.openxmlformats.org/officeDocument/2006/relationships/image"/><Relationship Id="rId34" Target="../media/image69.svg" Type="http://schemas.openxmlformats.org/officeDocument/2006/relationships/image"/><Relationship Id="rId35" Target="../media/image70.png" Type="http://schemas.openxmlformats.org/officeDocument/2006/relationships/image"/><Relationship Id="rId36" Target="../media/image71.svg" Type="http://schemas.openxmlformats.org/officeDocument/2006/relationships/image"/><Relationship Id="rId4" Target="../media/image5.jpe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 Id="rId7" Target="../media/image42.png" Type="http://schemas.openxmlformats.org/officeDocument/2006/relationships/image"/><Relationship Id="rId8" Target="../media/image43.svg" Type="http://schemas.openxmlformats.org/officeDocument/2006/relationships/image"/><Relationship Id="rId9" Target="../media/image4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43769" y="2264864"/>
            <a:ext cx="16229943" cy="3547739"/>
          </a:xfrm>
          <a:prstGeom prst="rect">
            <a:avLst/>
          </a:prstGeom>
        </p:spPr>
        <p:txBody>
          <a:bodyPr anchor="t" rtlCol="false" tIns="0" lIns="0" bIns="0" rIns="0">
            <a:spAutoFit/>
          </a:bodyPr>
          <a:lstStyle/>
          <a:p>
            <a:pPr algn="ctr">
              <a:lnSpc>
                <a:spcPts val="26008"/>
              </a:lnSpc>
            </a:pPr>
            <a:r>
              <a:rPr lang="en-US" b="true" sz="18577" i="true">
                <a:solidFill>
                  <a:srgbClr val="0F4662"/>
                </a:solidFill>
                <a:latin typeface="Cormorant Garamond Bold Italics"/>
                <a:ea typeface="Cormorant Garamond Bold Italics"/>
                <a:cs typeface="Cormorant Garamond Bold Italics"/>
                <a:sym typeface="Cormorant Garamond Bold Italics"/>
              </a:rPr>
              <a:t>Eat2Beat</a:t>
            </a:r>
          </a:p>
        </p:txBody>
      </p:sp>
      <p:sp>
        <p:nvSpPr>
          <p:cNvPr name="Freeform 3" id="3"/>
          <p:cNvSpPr/>
          <p:nvPr/>
        </p:nvSpPr>
        <p:spPr>
          <a:xfrm flipH="false" flipV="false" rot="0">
            <a:off x="9618707" y="9037491"/>
            <a:ext cx="2968857" cy="441617"/>
          </a:xfrm>
          <a:custGeom>
            <a:avLst/>
            <a:gdLst/>
            <a:ahLst/>
            <a:cxnLst/>
            <a:rect r="r" b="b" t="t" l="l"/>
            <a:pathLst>
              <a:path h="441617" w="2968857">
                <a:moveTo>
                  <a:pt x="0" y="0"/>
                </a:moveTo>
                <a:lnTo>
                  <a:pt x="2968857" y="0"/>
                </a:lnTo>
                <a:lnTo>
                  <a:pt x="2968857" y="441618"/>
                </a:lnTo>
                <a:lnTo>
                  <a:pt x="0" y="441618"/>
                </a:lnTo>
                <a:lnTo>
                  <a:pt x="0" y="0"/>
                </a:lnTo>
                <a:close/>
              </a:path>
            </a:pathLst>
          </a:custGeom>
          <a:blipFill>
            <a:blip r:embed="rId2">
              <a:extLst>
                <a:ext uri="{96DAC541-7B7A-43D3-8B79-37D633B846F1}">
                  <asvg:svgBlip xmlns:asvg="http://schemas.microsoft.com/office/drawing/2016/SVG/main" r:embed="rId3"/>
                </a:ext>
              </a:extLst>
            </a:blip>
            <a:stretch>
              <a:fillRect l="0" t="-1712" r="0" b="-1712"/>
            </a:stretch>
          </a:blipFill>
        </p:spPr>
      </p:sp>
      <p:sp>
        <p:nvSpPr>
          <p:cNvPr name="TextBox 4" id="4"/>
          <p:cNvSpPr txBox="true"/>
          <p:nvPr/>
        </p:nvSpPr>
        <p:spPr>
          <a:xfrm rot="0">
            <a:off x="2737542" y="5813222"/>
            <a:ext cx="12812925" cy="900036"/>
          </a:xfrm>
          <a:prstGeom prst="rect">
            <a:avLst/>
          </a:prstGeom>
        </p:spPr>
        <p:txBody>
          <a:bodyPr anchor="t" rtlCol="false" tIns="0" lIns="0" bIns="0" rIns="0">
            <a:spAutoFit/>
          </a:bodyPr>
          <a:lstStyle/>
          <a:p>
            <a:pPr algn="ctr">
              <a:lnSpc>
                <a:spcPts val="6564"/>
              </a:lnSpc>
            </a:pPr>
            <a:r>
              <a:rPr lang="en-US" sz="4689">
                <a:solidFill>
                  <a:srgbClr val="0F4662"/>
                </a:solidFill>
                <a:latin typeface="Quicksand"/>
                <a:ea typeface="Quicksand"/>
                <a:cs typeface="Quicksand"/>
                <a:sym typeface="Quicksand"/>
              </a:rPr>
              <a:t>Reduce Food Waste project</a:t>
            </a:r>
          </a:p>
        </p:txBody>
      </p:sp>
      <p:sp>
        <p:nvSpPr>
          <p:cNvPr name="Freeform 5" id="5"/>
          <p:cNvSpPr/>
          <p:nvPr/>
        </p:nvSpPr>
        <p:spPr>
          <a:xfrm flipH="false" flipV="false" rot="0">
            <a:off x="5646744" y="807891"/>
            <a:ext cx="2968857" cy="441617"/>
          </a:xfrm>
          <a:custGeom>
            <a:avLst/>
            <a:gdLst/>
            <a:ahLst/>
            <a:cxnLst/>
            <a:rect r="r" b="b" t="t" l="l"/>
            <a:pathLst>
              <a:path h="441617" w="2968857">
                <a:moveTo>
                  <a:pt x="0" y="0"/>
                </a:moveTo>
                <a:lnTo>
                  <a:pt x="2968857" y="0"/>
                </a:lnTo>
                <a:lnTo>
                  <a:pt x="2968857" y="441618"/>
                </a:lnTo>
                <a:lnTo>
                  <a:pt x="0" y="441618"/>
                </a:lnTo>
                <a:lnTo>
                  <a:pt x="0" y="0"/>
                </a:lnTo>
                <a:close/>
              </a:path>
            </a:pathLst>
          </a:custGeom>
          <a:blipFill>
            <a:blip r:embed="rId2">
              <a:extLst>
                <a:ext uri="{96DAC541-7B7A-43D3-8B79-37D633B846F1}">
                  <asvg:svgBlip xmlns:asvg="http://schemas.microsoft.com/office/drawing/2016/SVG/main" r:embed="rId3"/>
                </a:ext>
              </a:extLst>
            </a:blip>
            <a:stretch>
              <a:fillRect l="0" t="-1712" r="0" b="-1712"/>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180823"/>
            <a:ext cx="18288000" cy="4280316"/>
          </a:xfrm>
          <a:custGeom>
            <a:avLst/>
            <a:gdLst/>
            <a:ahLst/>
            <a:cxnLst/>
            <a:rect r="r" b="b" t="t" l="l"/>
            <a:pathLst>
              <a:path h="4280316" w="18288000">
                <a:moveTo>
                  <a:pt x="0" y="0"/>
                </a:moveTo>
                <a:lnTo>
                  <a:pt x="18288000" y="0"/>
                </a:lnTo>
                <a:lnTo>
                  <a:pt x="18288000" y="4280316"/>
                </a:lnTo>
                <a:lnTo>
                  <a:pt x="0" y="42803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85413"/>
            <a:ext cx="9914963" cy="1199512"/>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Team Members</a:t>
            </a:r>
          </a:p>
        </p:txBody>
      </p:sp>
      <p:sp>
        <p:nvSpPr>
          <p:cNvPr name="TextBox 4" id="4"/>
          <p:cNvSpPr txBox="true"/>
          <p:nvPr/>
        </p:nvSpPr>
        <p:spPr>
          <a:xfrm rot="0">
            <a:off x="6635344" y="4585973"/>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Amany Ashraf</a:t>
            </a:r>
          </a:p>
        </p:txBody>
      </p:sp>
      <p:sp>
        <p:nvSpPr>
          <p:cNvPr name="TextBox 5" id="5"/>
          <p:cNvSpPr txBox="true"/>
          <p:nvPr/>
        </p:nvSpPr>
        <p:spPr>
          <a:xfrm rot="0">
            <a:off x="12390120" y="4585973"/>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Ahmed Gaber</a:t>
            </a:r>
          </a:p>
        </p:txBody>
      </p:sp>
      <p:sp>
        <p:nvSpPr>
          <p:cNvPr name="TextBox 6" id="6"/>
          <p:cNvSpPr txBox="true"/>
          <p:nvPr/>
        </p:nvSpPr>
        <p:spPr>
          <a:xfrm rot="0">
            <a:off x="884596" y="4585973"/>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Nada Mansour</a:t>
            </a:r>
          </a:p>
        </p:txBody>
      </p:sp>
      <p:grpSp>
        <p:nvGrpSpPr>
          <p:cNvPr name="Group 7" id="7"/>
          <p:cNvGrpSpPr/>
          <p:nvPr/>
        </p:nvGrpSpPr>
        <p:grpSpPr>
          <a:xfrm rot="0">
            <a:off x="5859780" y="8643109"/>
            <a:ext cx="6568440" cy="76200"/>
            <a:chOff x="0" y="0"/>
            <a:chExt cx="8757920" cy="101600"/>
          </a:xfrm>
        </p:grpSpPr>
        <p:sp>
          <p:nvSpPr>
            <p:cNvPr name="Freeform 8" id="8"/>
            <p:cNvSpPr/>
            <p:nvPr/>
          </p:nvSpPr>
          <p:spPr>
            <a:xfrm flipH="false" flipV="false" rot="0">
              <a:off x="0" y="0"/>
              <a:ext cx="8757920" cy="101600"/>
            </a:xfrm>
            <a:custGeom>
              <a:avLst/>
              <a:gdLst/>
              <a:ahLst/>
              <a:cxnLst/>
              <a:rect r="r" b="b" t="t" l="l"/>
              <a:pathLst>
                <a:path h="101600" w="8757920">
                  <a:moveTo>
                    <a:pt x="0" y="0"/>
                  </a:moveTo>
                  <a:lnTo>
                    <a:pt x="8757920" y="101600"/>
                  </a:lnTo>
                </a:path>
              </a:pathLst>
            </a:custGeom>
            <a:blipFill>
              <a:blip r:embed="rId4">
                <a:alphaModFix amt="0"/>
              </a:blip>
              <a:stretch>
                <a:fillRect l="0" t="-1629610" r="0" b="-1629610"/>
              </a:stretch>
            </a:blipFill>
            <a:ln w="76200" cap="sq">
              <a:solidFill>
                <a:srgbClr val="0F4662"/>
              </a:solidFill>
              <a:prstDash val="solid"/>
              <a:miter/>
            </a:ln>
          </p:spPr>
        </p:sp>
      </p:grpSp>
      <p:sp>
        <p:nvSpPr>
          <p:cNvPr name="Freeform 9" id="9"/>
          <p:cNvSpPr/>
          <p:nvPr/>
        </p:nvSpPr>
        <p:spPr>
          <a:xfrm flipH="false" flipV="false" rot="0">
            <a:off x="8304000" y="9529724"/>
            <a:ext cx="1680000" cy="249898"/>
          </a:xfrm>
          <a:custGeom>
            <a:avLst/>
            <a:gdLst/>
            <a:ahLst/>
            <a:cxnLst/>
            <a:rect r="r" b="b" t="t" l="l"/>
            <a:pathLst>
              <a:path h="249898" w="1680000">
                <a:moveTo>
                  <a:pt x="0" y="0"/>
                </a:moveTo>
                <a:lnTo>
                  <a:pt x="1680000" y="0"/>
                </a:lnTo>
                <a:lnTo>
                  <a:pt x="1680000" y="249898"/>
                </a:lnTo>
                <a:lnTo>
                  <a:pt x="0" y="249898"/>
                </a:lnTo>
                <a:lnTo>
                  <a:pt x="0" y="0"/>
                </a:lnTo>
                <a:close/>
              </a:path>
            </a:pathLst>
          </a:custGeom>
          <a:blipFill>
            <a:blip r:embed="rId5">
              <a:extLst>
                <a:ext uri="{96DAC541-7B7A-43D3-8B79-37D633B846F1}">
                  <asvg:svgBlip xmlns:asvg="http://schemas.microsoft.com/office/drawing/2016/SVG/main" r:embed="rId6"/>
                </a:ext>
              </a:extLst>
            </a:blip>
            <a:stretch>
              <a:fillRect l="0" t="-1273" r="0" b="-1276"/>
            </a:stretch>
          </a:blipFill>
        </p:spPr>
      </p:sp>
      <p:sp>
        <p:nvSpPr>
          <p:cNvPr name="TextBox 10" id="10"/>
          <p:cNvSpPr txBox="true"/>
          <p:nvPr/>
        </p:nvSpPr>
        <p:spPr>
          <a:xfrm rot="0">
            <a:off x="880558" y="5629246"/>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Login Shagar</a:t>
            </a:r>
          </a:p>
        </p:txBody>
      </p:sp>
      <p:sp>
        <p:nvSpPr>
          <p:cNvPr name="TextBox 11" id="11"/>
          <p:cNvSpPr txBox="true"/>
          <p:nvPr/>
        </p:nvSpPr>
        <p:spPr>
          <a:xfrm rot="0">
            <a:off x="6635344" y="5629246"/>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Reem Shouib</a:t>
            </a:r>
          </a:p>
        </p:txBody>
      </p:sp>
      <p:sp>
        <p:nvSpPr>
          <p:cNvPr name="TextBox 12" id="12"/>
          <p:cNvSpPr txBox="true"/>
          <p:nvPr/>
        </p:nvSpPr>
        <p:spPr>
          <a:xfrm rot="0">
            <a:off x="12300356" y="5629246"/>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Yossef Khaled</a:t>
            </a:r>
          </a:p>
        </p:txBody>
      </p:sp>
      <p:sp>
        <p:nvSpPr>
          <p:cNvPr name="TextBox 13" id="13"/>
          <p:cNvSpPr txBox="true"/>
          <p:nvPr/>
        </p:nvSpPr>
        <p:spPr>
          <a:xfrm rot="0">
            <a:off x="6635344" y="6672510"/>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Shrouk Adel</a:t>
            </a:r>
          </a:p>
        </p:txBody>
      </p:sp>
      <p:sp>
        <p:nvSpPr>
          <p:cNvPr name="TextBox 14" id="14"/>
          <p:cNvSpPr txBox="true"/>
          <p:nvPr/>
        </p:nvSpPr>
        <p:spPr>
          <a:xfrm rot="0">
            <a:off x="880558" y="6672510"/>
            <a:ext cx="5017322" cy="557498"/>
          </a:xfrm>
          <a:prstGeom prst="rect">
            <a:avLst/>
          </a:prstGeom>
        </p:spPr>
        <p:txBody>
          <a:bodyPr anchor="t" rtlCol="false" tIns="0" lIns="0" bIns="0" rIns="0">
            <a:spAutoFit/>
          </a:bodyPr>
          <a:lstStyle/>
          <a:p>
            <a:pPr algn="ctr">
              <a:lnSpc>
                <a:spcPts val="3919"/>
              </a:lnSpc>
            </a:pPr>
            <a:r>
              <a:rPr lang="en-US" sz="2799" b="true">
                <a:solidFill>
                  <a:srgbClr val="0F4662"/>
                </a:solidFill>
                <a:latin typeface="Quicksand Bold"/>
                <a:ea typeface="Quicksand Bold"/>
                <a:cs typeface="Quicksand Bold"/>
                <a:sym typeface="Quicksand Bold"/>
              </a:rPr>
              <a:t>Ahmed Salah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8304000" y="2470556"/>
            <a:ext cx="1680000" cy="249898"/>
          </a:xfrm>
          <a:custGeom>
            <a:avLst/>
            <a:gdLst/>
            <a:ahLst/>
            <a:cxnLst/>
            <a:rect r="r" b="b" t="t" l="l"/>
            <a:pathLst>
              <a:path h="249898" w="1680000">
                <a:moveTo>
                  <a:pt x="0" y="0"/>
                </a:moveTo>
                <a:lnTo>
                  <a:pt x="1680000" y="0"/>
                </a:lnTo>
                <a:lnTo>
                  <a:pt x="1680000" y="249898"/>
                </a:lnTo>
                <a:lnTo>
                  <a:pt x="0" y="249898"/>
                </a:lnTo>
                <a:lnTo>
                  <a:pt x="0" y="0"/>
                </a:lnTo>
                <a:close/>
              </a:path>
            </a:pathLst>
          </a:custGeom>
          <a:blipFill>
            <a:blip r:embed="rId2">
              <a:extLst>
                <a:ext uri="{96DAC541-7B7A-43D3-8B79-37D633B846F1}">
                  <asvg:svgBlip xmlns:asvg="http://schemas.microsoft.com/office/drawing/2016/SVG/main" r:embed="rId3"/>
                </a:ext>
              </a:extLst>
            </a:blip>
            <a:stretch>
              <a:fillRect l="0" t="-1273" r="0" b="-1276"/>
            </a:stretch>
          </a:blipFill>
        </p:spPr>
      </p:sp>
      <p:sp>
        <p:nvSpPr>
          <p:cNvPr name="TextBox 3" id="3"/>
          <p:cNvSpPr txBox="true"/>
          <p:nvPr/>
        </p:nvSpPr>
        <p:spPr>
          <a:xfrm rot="0">
            <a:off x="1028700" y="485413"/>
            <a:ext cx="8048158" cy="2332853"/>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Problem Context &amp; Motivation</a:t>
            </a:r>
          </a:p>
        </p:txBody>
      </p:sp>
      <p:sp>
        <p:nvSpPr>
          <p:cNvPr name="Freeform 4" id="4"/>
          <p:cNvSpPr/>
          <p:nvPr/>
        </p:nvSpPr>
        <p:spPr>
          <a:xfrm flipH="false" flipV="false" rot="0">
            <a:off x="8304000" y="9096489"/>
            <a:ext cx="1680000" cy="249898"/>
          </a:xfrm>
          <a:custGeom>
            <a:avLst/>
            <a:gdLst/>
            <a:ahLst/>
            <a:cxnLst/>
            <a:rect r="r" b="b" t="t" l="l"/>
            <a:pathLst>
              <a:path h="249898" w="1680000">
                <a:moveTo>
                  <a:pt x="0" y="0"/>
                </a:moveTo>
                <a:lnTo>
                  <a:pt x="1680000" y="0"/>
                </a:lnTo>
                <a:lnTo>
                  <a:pt x="1680000" y="249898"/>
                </a:lnTo>
                <a:lnTo>
                  <a:pt x="0" y="249898"/>
                </a:lnTo>
                <a:lnTo>
                  <a:pt x="0" y="0"/>
                </a:lnTo>
                <a:close/>
              </a:path>
            </a:pathLst>
          </a:custGeom>
          <a:blipFill>
            <a:blip r:embed="rId2">
              <a:extLst>
                <a:ext uri="{96DAC541-7B7A-43D3-8B79-37D633B846F1}">
                  <asvg:svgBlip xmlns:asvg="http://schemas.microsoft.com/office/drawing/2016/SVG/main" r:embed="rId3"/>
                </a:ext>
              </a:extLst>
            </a:blip>
            <a:stretch>
              <a:fillRect l="0" t="-1273" r="0" b="-1276"/>
            </a:stretch>
          </a:blipFill>
        </p:spPr>
      </p:sp>
      <p:sp>
        <p:nvSpPr>
          <p:cNvPr name="TextBox 5" id="5"/>
          <p:cNvSpPr txBox="true"/>
          <p:nvPr/>
        </p:nvSpPr>
        <p:spPr>
          <a:xfrm rot="0">
            <a:off x="1478509" y="4024198"/>
            <a:ext cx="13340105" cy="608867"/>
          </a:xfrm>
          <a:prstGeom prst="rect">
            <a:avLst/>
          </a:prstGeom>
        </p:spPr>
        <p:txBody>
          <a:bodyPr anchor="t" rtlCol="false" tIns="0" lIns="0" bIns="0" rIns="0">
            <a:spAutoFit/>
          </a:bodyPr>
          <a:lstStyle/>
          <a:p>
            <a:pPr algn="just" marL="692947" indent="-230982" lvl="2">
              <a:lnSpc>
                <a:spcPts val="4244"/>
              </a:lnSpc>
              <a:buFont typeface="Arial"/>
              <a:buChar char="⚬"/>
            </a:pPr>
            <a:r>
              <a:rPr lang="en-US" b="true" sz="3031">
                <a:solidFill>
                  <a:srgbClr val="0F4662"/>
                </a:solidFill>
                <a:latin typeface="Cloud Bold"/>
                <a:ea typeface="Cloud Bold"/>
                <a:cs typeface="Cloud Bold"/>
                <a:sym typeface="Cloud Bold"/>
              </a:rPr>
              <a:t>Restaurants often waste unsold prepared meals at the end of the day.</a:t>
            </a:r>
          </a:p>
        </p:txBody>
      </p:sp>
      <p:sp>
        <p:nvSpPr>
          <p:cNvPr name="TextBox 6" id="6"/>
          <p:cNvSpPr txBox="true"/>
          <p:nvPr/>
        </p:nvSpPr>
        <p:spPr>
          <a:xfrm rot="0">
            <a:off x="1426178" y="4923787"/>
            <a:ext cx="13912787" cy="608867"/>
          </a:xfrm>
          <a:prstGeom prst="rect">
            <a:avLst/>
          </a:prstGeom>
        </p:spPr>
        <p:txBody>
          <a:bodyPr anchor="t" rtlCol="false" tIns="0" lIns="0" bIns="0" rIns="0">
            <a:spAutoFit/>
          </a:bodyPr>
          <a:lstStyle/>
          <a:p>
            <a:pPr algn="just" marL="692947" indent="-230982" lvl="2">
              <a:lnSpc>
                <a:spcPts val="4244"/>
              </a:lnSpc>
              <a:buFont typeface="Arial"/>
              <a:buChar char="⚬"/>
            </a:pPr>
            <a:r>
              <a:rPr lang="en-US" b="true" sz="3031">
                <a:solidFill>
                  <a:srgbClr val="0F4662"/>
                </a:solidFill>
                <a:latin typeface="Cloud Bold"/>
                <a:ea typeface="Cloud Bold"/>
                <a:cs typeface="Cloud Bold"/>
                <a:sym typeface="Cloud Bold"/>
              </a:rPr>
              <a:t>This food waste leads to financial losses and inefficient use of resources.</a:t>
            </a:r>
          </a:p>
        </p:txBody>
      </p:sp>
      <p:sp>
        <p:nvSpPr>
          <p:cNvPr name="TextBox 7" id="7"/>
          <p:cNvSpPr txBox="true"/>
          <p:nvPr/>
        </p:nvSpPr>
        <p:spPr>
          <a:xfrm rot="0">
            <a:off x="1426178" y="5856503"/>
            <a:ext cx="14749901" cy="1675800"/>
          </a:xfrm>
          <a:prstGeom prst="rect">
            <a:avLst/>
          </a:prstGeom>
        </p:spPr>
        <p:txBody>
          <a:bodyPr anchor="t" rtlCol="false" tIns="0" lIns="0" bIns="0" rIns="0">
            <a:spAutoFit/>
          </a:bodyPr>
          <a:lstStyle/>
          <a:p>
            <a:pPr algn="just" marL="692947" indent="-230982" lvl="2">
              <a:lnSpc>
                <a:spcPts val="4244"/>
              </a:lnSpc>
              <a:buFont typeface="Arial"/>
              <a:buChar char="⚬"/>
            </a:pPr>
            <a:r>
              <a:rPr lang="en-US" b="true" sz="3031">
                <a:solidFill>
                  <a:srgbClr val="0F4662"/>
                </a:solidFill>
                <a:latin typeface="Cloud Bold"/>
                <a:ea typeface="Cloud Bold"/>
                <a:cs typeface="Cloud Bold"/>
                <a:sym typeface="Cloud Bold"/>
              </a:rPr>
              <a:t>At the same time, many people struggle to access affordable meals.</a:t>
            </a:r>
          </a:p>
          <a:p>
            <a:pPr algn="just" marL="692947" indent="-230982" lvl="2">
              <a:lnSpc>
                <a:spcPts val="4244"/>
              </a:lnSpc>
            </a:pPr>
          </a:p>
          <a:p>
            <a:pPr algn="just" marL="692947" indent="-230982" lvl="2">
              <a:lnSpc>
                <a:spcPts val="4244"/>
              </a:lnSpc>
              <a:buFont typeface="Arial"/>
              <a:buChar char="⚬"/>
            </a:pPr>
            <a:r>
              <a:rPr lang="en-US" b="true" sz="3031">
                <a:solidFill>
                  <a:srgbClr val="0F4662"/>
                </a:solidFill>
                <a:latin typeface="Cloud Bold"/>
                <a:ea typeface="Cloud Bold"/>
                <a:cs typeface="Cloud Bold"/>
                <a:sym typeface="Cloud Bold"/>
              </a:rPr>
              <a:t>There is no simple, organized system to manage and redistribute surplus food.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4751415" y="-180823"/>
            <a:ext cx="4194105" cy="10451973"/>
          </a:xfrm>
          <a:custGeom>
            <a:avLst/>
            <a:gdLst/>
            <a:ahLst/>
            <a:cxnLst/>
            <a:rect r="r" b="b" t="t" l="l"/>
            <a:pathLst>
              <a:path h="10451973" w="4194105">
                <a:moveTo>
                  <a:pt x="0" y="0"/>
                </a:moveTo>
                <a:lnTo>
                  <a:pt x="4194105" y="0"/>
                </a:lnTo>
                <a:lnTo>
                  <a:pt x="4194105" y="10451973"/>
                </a:lnTo>
                <a:lnTo>
                  <a:pt x="0" y="10451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97135" y="2594391"/>
            <a:ext cx="4205888" cy="3978878"/>
            <a:chOff x="0" y="0"/>
            <a:chExt cx="5607850" cy="5305171"/>
          </a:xfrm>
        </p:grpSpPr>
        <p:sp>
          <p:nvSpPr>
            <p:cNvPr name="Freeform 4" id="4"/>
            <p:cNvSpPr/>
            <p:nvPr/>
          </p:nvSpPr>
          <p:spPr>
            <a:xfrm flipH="false" flipV="false" rot="0">
              <a:off x="0" y="0"/>
              <a:ext cx="5607812" cy="5305171"/>
            </a:xfrm>
            <a:custGeom>
              <a:avLst/>
              <a:gdLst/>
              <a:ahLst/>
              <a:cxnLst/>
              <a:rect r="r" b="b" t="t" l="l"/>
              <a:pathLst>
                <a:path h="5305171" w="5607812">
                  <a:moveTo>
                    <a:pt x="0" y="0"/>
                  </a:moveTo>
                  <a:lnTo>
                    <a:pt x="5607812" y="0"/>
                  </a:lnTo>
                  <a:lnTo>
                    <a:pt x="5607812" y="5305171"/>
                  </a:lnTo>
                  <a:lnTo>
                    <a:pt x="0" y="5305171"/>
                  </a:lnTo>
                  <a:lnTo>
                    <a:pt x="0" y="0"/>
                  </a:lnTo>
                  <a:close/>
                </a:path>
              </a:pathLst>
            </a:custGeom>
            <a:blipFill>
              <a:blip r:embed="rId4"/>
              <a:stretch>
                <a:fillRect l="0" t="-4462" r="0" b="-1242"/>
              </a:stretch>
            </a:blipFill>
          </p:spPr>
        </p:sp>
      </p:grpSp>
      <p:sp>
        <p:nvSpPr>
          <p:cNvPr name="Freeform 5" id="5"/>
          <p:cNvSpPr/>
          <p:nvPr/>
        </p:nvSpPr>
        <p:spPr>
          <a:xfrm flipH="false" flipV="false" rot="0">
            <a:off x="869823" y="9496254"/>
            <a:ext cx="1905000" cy="283369"/>
          </a:xfrm>
          <a:custGeom>
            <a:avLst/>
            <a:gdLst/>
            <a:ahLst/>
            <a:cxnLst/>
            <a:rect r="r" b="b" t="t" l="l"/>
            <a:pathLst>
              <a:path h="283369" w="1905000">
                <a:moveTo>
                  <a:pt x="0" y="0"/>
                </a:moveTo>
                <a:lnTo>
                  <a:pt x="1905000" y="0"/>
                </a:lnTo>
                <a:lnTo>
                  <a:pt x="1905000" y="283368"/>
                </a:lnTo>
                <a:lnTo>
                  <a:pt x="0" y="283368"/>
                </a:lnTo>
                <a:lnTo>
                  <a:pt x="0" y="0"/>
                </a:lnTo>
                <a:close/>
              </a:path>
            </a:pathLst>
          </a:custGeom>
          <a:blipFill>
            <a:blip r:embed="rId5">
              <a:extLst>
                <a:ext uri="{96DAC541-7B7A-43D3-8B79-37D633B846F1}">
                  <asvg:svgBlip xmlns:asvg="http://schemas.microsoft.com/office/drawing/2016/SVG/main" r:embed="rId6"/>
                </a:ext>
              </a:extLst>
            </a:blip>
            <a:stretch>
              <a:fillRect l="0" t="-2100" r="0" b="-2100"/>
            </a:stretch>
          </a:blipFill>
        </p:spPr>
      </p:sp>
      <p:sp>
        <p:nvSpPr>
          <p:cNvPr name="TextBox 6" id="6"/>
          <p:cNvSpPr txBox="true"/>
          <p:nvPr/>
        </p:nvSpPr>
        <p:spPr>
          <a:xfrm rot="0">
            <a:off x="552079" y="167669"/>
            <a:ext cx="9390240"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Problem Statement </a:t>
            </a:r>
          </a:p>
        </p:txBody>
      </p:sp>
      <p:sp>
        <p:nvSpPr>
          <p:cNvPr name="TextBox 7" id="7"/>
          <p:cNvSpPr txBox="true"/>
          <p:nvPr/>
        </p:nvSpPr>
        <p:spPr>
          <a:xfrm rot="0">
            <a:off x="552079" y="1542393"/>
            <a:ext cx="12796580" cy="7511872"/>
          </a:xfrm>
          <a:prstGeom prst="rect">
            <a:avLst/>
          </a:prstGeom>
        </p:spPr>
        <p:txBody>
          <a:bodyPr anchor="t" rtlCol="false" tIns="0" lIns="0" bIns="0" rIns="0">
            <a:spAutoFit/>
          </a:bodyPr>
          <a:lstStyle/>
          <a:p>
            <a:pPr algn="l">
              <a:lnSpc>
                <a:spcPts val="4934"/>
              </a:lnSpc>
            </a:pPr>
            <a:r>
              <a:rPr lang="en-US" sz="2901">
                <a:solidFill>
                  <a:srgbClr val="0F4662"/>
                </a:solidFill>
                <a:latin typeface="Quicksand"/>
                <a:ea typeface="Quicksand"/>
                <a:cs typeface="Quicksand"/>
                <a:sym typeface="Quicksand"/>
              </a:rPr>
              <a:t>Restaurants often throw away meals that weren’t sold, and there is no simple way to share them with people who could use them.</a:t>
            </a:r>
          </a:p>
          <a:p>
            <a:pPr algn="ctr">
              <a:lnSpc>
                <a:spcPts val="4934"/>
              </a:lnSpc>
            </a:pPr>
          </a:p>
          <a:p>
            <a:pPr algn="l">
              <a:lnSpc>
                <a:spcPts val="4934"/>
              </a:lnSpc>
            </a:pPr>
            <a:r>
              <a:rPr lang="en-US" sz="2901">
                <a:solidFill>
                  <a:srgbClr val="0F4662"/>
                </a:solidFill>
                <a:latin typeface="Quicksand"/>
                <a:ea typeface="Quicksand"/>
                <a:cs typeface="Quicksand"/>
                <a:sym typeface="Quicksand"/>
              </a:rPr>
              <a:t>   </a:t>
            </a:r>
            <a:r>
              <a:rPr lang="en-US" sz="2901" b="true">
                <a:solidFill>
                  <a:srgbClr val="0F4662"/>
                </a:solidFill>
                <a:latin typeface="Quicksand Bold"/>
                <a:ea typeface="Quicksand Bold"/>
                <a:cs typeface="Quicksand Bold"/>
                <a:sym typeface="Quicksand Bold"/>
              </a:rPr>
              <a:t>Eat2Beat Proposes Smart Food Waste Reduction by </a:t>
            </a:r>
            <a:r>
              <a:rPr lang="en-US" sz="2901">
                <a:solidFill>
                  <a:srgbClr val="0F4662"/>
                </a:solidFill>
                <a:latin typeface="Quicksand"/>
                <a:ea typeface="Quicksand"/>
                <a:cs typeface="Quicksand"/>
                <a:sym typeface="Quicksand"/>
              </a:rPr>
              <a:t>:</a:t>
            </a:r>
          </a:p>
          <a:p>
            <a:pPr algn="l">
              <a:lnSpc>
                <a:spcPts val="4934"/>
              </a:lnSpc>
            </a:pPr>
            <a:r>
              <a:rPr lang="en-US" sz="2901">
                <a:solidFill>
                  <a:srgbClr val="0F4662"/>
                </a:solidFill>
                <a:latin typeface="Quicksand"/>
                <a:ea typeface="Quicksand"/>
                <a:cs typeface="Quicksand"/>
                <a:sym typeface="Quicksand"/>
              </a:rPr>
              <a:t>      Our platform connects restaurants, users, and charities by offering             easy meal management for restaurants, meal browsing and offers for users, and surplus food distribution for charities, with support for different deployment modes to fit each use case.</a:t>
            </a:r>
          </a:p>
          <a:p>
            <a:pPr algn="ctr">
              <a:lnSpc>
                <a:spcPts val="4934"/>
              </a:lnSpc>
            </a:pPr>
          </a:p>
          <a:p>
            <a:pPr algn="ctr">
              <a:lnSpc>
                <a:spcPts val="4934"/>
              </a:lnSpc>
            </a:pPr>
            <a:r>
              <a:rPr lang="en-US" sz="2901" b="true">
                <a:solidFill>
                  <a:srgbClr val="0F4662"/>
                </a:solidFill>
                <a:latin typeface="Quicksand Bold"/>
                <a:ea typeface="Quicksand Bold"/>
                <a:cs typeface="Quicksand Bold"/>
                <a:sym typeface="Quicksand Bold"/>
              </a:rPr>
              <a:t>Stakeholders:</a:t>
            </a:r>
            <a:r>
              <a:rPr lang="en-US" sz="2901">
                <a:solidFill>
                  <a:srgbClr val="0F4662"/>
                </a:solidFill>
                <a:latin typeface="Quicksand"/>
                <a:ea typeface="Quicksand"/>
                <a:cs typeface="Quicksand"/>
                <a:sym typeface="Quicksand"/>
              </a:rPr>
              <a:t> Restaurants, users looking for affordable meals, and          charitable organizations.</a:t>
            </a:r>
          </a:p>
          <a:p>
            <a:pPr algn="l">
              <a:lnSpc>
                <a:spcPts val="4934"/>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7470124" y="5955859"/>
            <a:ext cx="4210755" cy="3273866"/>
          </a:xfrm>
          <a:custGeom>
            <a:avLst/>
            <a:gdLst/>
            <a:ahLst/>
            <a:cxnLst/>
            <a:rect r="r" b="b" t="t" l="l"/>
            <a:pathLst>
              <a:path h="3273866" w="4210755">
                <a:moveTo>
                  <a:pt x="0" y="0"/>
                </a:moveTo>
                <a:lnTo>
                  <a:pt x="4210755" y="0"/>
                </a:lnTo>
                <a:lnTo>
                  <a:pt x="4210755" y="3273866"/>
                </a:lnTo>
                <a:lnTo>
                  <a:pt x="0" y="3273866"/>
                </a:lnTo>
                <a:lnTo>
                  <a:pt x="0" y="0"/>
                </a:lnTo>
                <a:close/>
              </a:path>
            </a:pathLst>
          </a:custGeom>
          <a:blipFill>
            <a:blip r:embed="rId2">
              <a:extLst>
                <a:ext uri="{96DAC541-7B7A-43D3-8B79-37D633B846F1}">
                  <asvg:svgBlip xmlns:asvg="http://schemas.microsoft.com/office/drawing/2016/SVG/main" r:embed="rId3"/>
                </a:ext>
              </a:extLst>
            </a:blip>
            <a:stretch>
              <a:fillRect l="-62" t="0" r="-62" b="0"/>
            </a:stretch>
          </a:blipFill>
        </p:spPr>
      </p:sp>
      <p:sp>
        <p:nvSpPr>
          <p:cNvPr name="TextBox 3" id="3"/>
          <p:cNvSpPr txBox="true"/>
          <p:nvPr/>
        </p:nvSpPr>
        <p:spPr>
          <a:xfrm rot="0">
            <a:off x="1024385" y="314677"/>
            <a:ext cx="14072064"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Learning &amp; Technical Objectives</a:t>
            </a:r>
          </a:p>
        </p:txBody>
      </p:sp>
      <p:sp>
        <p:nvSpPr>
          <p:cNvPr name="TextBox 4" id="4"/>
          <p:cNvSpPr txBox="true"/>
          <p:nvPr/>
        </p:nvSpPr>
        <p:spPr>
          <a:xfrm rot="0">
            <a:off x="390230" y="2224449"/>
            <a:ext cx="6620847" cy="557498"/>
          </a:xfrm>
          <a:prstGeom prst="rect">
            <a:avLst/>
          </a:prstGeom>
        </p:spPr>
        <p:txBody>
          <a:bodyPr anchor="t" rtlCol="false" tIns="0" lIns="0" bIns="0" rIns="0">
            <a:spAutoFit/>
          </a:bodyPr>
          <a:lstStyle/>
          <a:p>
            <a:pPr algn="r">
              <a:lnSpc>
                <a:spcPts val="3919"/>
              </a:lnSpc>
            </a:pPr>
            <a:r>
              <a:rPr lang="en-US" sz="2799" b="true">
                <a:solidFill>
                  <a:srgbClr val="0F4662"/>
                </a:solidFill>
                <a:latin typeface="Quicksand Bold"/>
                <a:ea typeface="Quicksand Bold"/>
                <a:cs typeface="Quicksand Bold"/>
                <a:sym typeface="Quicksand Bold"/>
              </a:rPr>
              <a:t>Smart Food Waste Reduction System</a:t>
            </a:r>
          </a:p>
        </p:txBody>
      </p:sp>
      <p:sp>
        <p:nvSpPr>
          <p:cNvPr name="TextBox 5" id="5"/>
          <p:cNvSpPr txBox="true"/>
          <p:nvPr/>
        </p:nvSpPr>
        <p:spPr>
          <a:xfrm rot="0">
            <a:off x="9734960" y="2905763"/>
            <a:ext cx="8317678" cy="2567540"/>
          </a:xfrm>
          <a:prstGeom prst="rect">
            <a:avLst/>
          </a:prstGeom>
        </p:spPr>
        <p:txBody>
          <a:bodyPr anchor="t" rtlCol="false" tIns="0" lIns="0" bIns="0" rIns="0">
            <a:spAutoFit/>
          </a:bodyPr>
          <a:lstStyle/>
          <a:p>
            <a:pPr algn="l" marL="548640" indent="-182880" lvl="2">
              <a:lnSpc>
                <a:spcPts val="3358"/>
              </a:lnSpc>
              <a:buFont typeface="Arial"/>
              <a:buChar char="⚬"/>
            </a:pPr>
            <a:r>
              <a:rPr lang="en-US" sz="2400">
                <a:solidFill>
                  <a:srgbClr val="0F4662"/>
                </a:solidFill>
                <a:latin typeface="Quicksand"/>
                <a:ea typeface="Quicksand"/>
                <a:cs typeface="Quicksand"/>
                <a:sym typeface="Quicksand"/>
              </a:rPr>
              <a:t>Build and evaluate ML models to predict food demand and surplus, helping prevent overproduction.</a:t>
            </a:r>
          </a:p>
          <a:p>
            <a:pPr algn="l" marL="548640" indent="-182880" lvl="2">
              <a:lnSpc>
                <a:spcPts val="3358"/>
              </a:lnSpc>
              <a:buFont typeface="Arial"/>
              <a:buChar char="⚬"/>
            </a:pPr>
            <a:r>
              <a:rPr lang="en-US" sz="2400">
                <a:solidFill>
                  <a:srgbClr val="0F4662"/>
                </a:solidFill>
                <a:latin typeface="Quicksand"/>
                <a:ea typeface="Quicksand"/>
                <a:cs typeface="Quicksand"/>
                <a:sym typeface="Quicksand"/>
              </a:rPr>
              <a:t>Use AI-driven recommendations to optimize donation timing, quantities, and matching.</a:t>
            </a:r>
          </a:p>
          <a:p>
            <a:pPr algn="l" marL="548640" indent="-182880" lvl="2">
              <a:lnSpc>
                <a:spcPts val="3358"/>
              </a:lnSpc>
              <a:buFont typeface="Arial"/>
              <a:buChar char="⚬"/>
            </a:pPr>
            <a:r>
              <a:rPr lang="en-US" sz="2400">
                <a:solidFill>
                  <a:srgbClr val="0F4662"/>
                </a:solidFill>
                <a:latin typeface="Quicksand"/>
                <a:ea typeface="Quicksand"/>
                <a:cs typeface="Quicksand"/>
                <a:sym typeface="Quicksand"/>
              </a:rPr>
              <a:t>Compare multiple ML models to most suitable model for real-world deployment</a:t>
            </a:r>
          </a:p>
        </p:txBody>
      </p:sp>
      <p:sp>
        <p:nvSpPr>
          <p:cNvPr name="TextBox 6" id="6"/>
          <p:cNvSpPr txBox="true"/>
          <p:nvPr/>
        </p:nvSpPr>
        <p:spPr>
          <a:xfrm rot="0">
            <a:off x="390230" y="6062653"/>
            <a:ext cx="5348230" cy="557498"/>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Backend &amp; System Integration</a:t>
            </a:r>
          </a:p>
        </p:txBody>
      </p:sp>
      <p:sp>
        <p:nvSpPr>
          <p:cNvPr name="TextBox 7" id="7"/>
          <p:cNvSpPr txBox="true"/>
          <p:nvPr/>
        </p:nvSpPr>
        <p:spPr>
          <a:xfrm rot="0">
            <a:off x="390230" y="6934476"/>
            <a:ext cx="6854161" cy="1729473"/>
          </a:xfrm>
          <a:prstGeom prst="rect">
            <a:avLst/>
          </a:prstGeom>
        </p:spPr>
        <p:txBody>
          <a:bodyPr anchor="t" rtlCol="false" tIns="0" lIns="0" bIns="0" rIns="0">
            <a:spAutoFit/>
          </a:bodyPr>
          <a:lstStyle/>
          <a:p>
            <a:pPr algn="just" marL="548640" indent="-182880" lvl="2">
              <a:lnSpc>
                <a:spcPts val="3358"/>
              </a:lnSpc>
              <a:buFont typeface="Arial"/>
              <a:buChar char="⚬"/>
            </a:pPr>
            <a:r>
              <a:rPr lang="en-US" sz="2400">
                <a:solidFill>
                  <a:srgbClr val="0F4662"/>
                </a:solidFill>
                <a:latin typeface="Quicksand"/>
                <a:ea typeface="Quicksand"/>
                <a:cs typeface="Quicksand"/>
                <a:sym typeface="Quicksand"/>
              </a:rPr>
              <a:t>Develop a scalable backend connecting mobile apps, dashboards, and AI services.</a:t>
            </a:r>
          </a:p>
          <a:p>
            <a:pPr algn="just" marL="548640" indent="-182880" lvl="2">
              <a:lnSpc>
                <a:spcPts val="3358"/>
              </a:lnSpc>
              <a:buFont typeface="Arial"/>
              <a:buChar char="⚬"/>
            </a:pPr>
            <a:r>
              <a:rPr lang="en-US" sz="2400">
                <a:solidFill>
                  <a:srgbClr val="0F4662"/>
                </a:solidFill>
                <a:latin typeface="Quicksand"/>
                <a:ea typeface="Quicksand"/>
                <a:cs typeface="Quicksand"/>
                <a:sym typeface="Quicksand"/>
              </a:rPr>
              <a:t>Integrate APIs to enable real-time data flow between frontend, backend, and ML models.</a:t>
            </a:r>
          </a:p>
        </p:txBody>
      </p:sp>
      <p:sp>
        <p:nvSpPr>
          <p:cNvPr name="TextBox 8" id="8"/>
          <p:cNvSpPr txBox="true"/>
          <p:nvPr/>
        </p:nvSpPr>
        <p:spPr>
          <a:xfrm rot="0">
            <a:off x="9144000" y="2224449"/>
            <a:ext cx="8352015" cy="557498"/>
          </a:xfrm>
          <a:prstGeom prst="rect">
            <a:avLst/>
          </a:prstGeom>
        </p:spPr>
        <p:txBody>
          <a:bodyPr anchor="t" rtlCol="false" tIns="0" lIns="0" bIns="0" rIns="0">
            <a:spAutoFit/>
          </a:bodyPr>
          <a:lstStyle/>
          <a:p>
            <a:pPr algn="r">
              <a:lnSpc>
                <a:spcPts val="3919"/>
              </a:lnSpc>
            </a:pPr>
            <a:r>
              <a:rPr lang="en-US" sz="2799" b="true">
                <a:solidFill>
                  <a:srgbClr val="0F4662"/>
                </a:solidFill>
                <a:latin typeface="Quicksand Bold"/>
                <a:ea typeface="Quicksand Bold"/>
                <a:cs typeface="Quicksand Bold"/>
                <a:sym typeface="Quicksand Bold"/>
              </a:rPr>
              <a:t>AI &amp; Machine Learning for Food Management</a:t>
            </a:r>
          </a:p>
        </p:txBody>
      </p:sp>
      <p:sp>
        <p:nvSpPr>
          <p:cNvPr name="Freeform 9" id="9"/>
          <p:cNvSpPr/>
          <p:nvPr/>
        </p:nvSpPr>
        <p:spPr>
          <a:xfrm flipH="false" flipV="false" rot="0">
            <a:off x="15579300" y="714013"/>
            <a:ext cx="1680000" cy="249898"/>
          </a:xfrm>
          <a:custGeom>
            <a:avLst/>
            <a:gdLst/>
            <a:ahLst/>
            <a:cxnLst/>
            <a:rect r="r" b="b" t="t" l="l"/>
            <a:pathLst>
              <a:path h="249898" w="1680000">
                <a:moveTo>
                  <a:pt x="0" y="0"/>
                </a:moveTo>
                <a:lnTo>
                  <a:pt x="1680000" y="0"/>
                </a:lnTo>
                <a:lnTo>
                  <a:pt x="1680000" y="249898"/>
                </a:lnTo>
                <a:lnTo>
                  <a:pt x="0" y="249898"/>
                </a:lnTo>
                <a:lnTo>
                  <a:pt x="0" y="0"/>
                </a:lnTo>
                <a:close/>
              </a:path>
            </a:pathLst>
          </a:custGeom>
          <a:blipFill>
            <a:blip r:embed="rId4">
              <a:extLst>
                <a:ext uri="{96DAC541-7B7A-43D3-8B79-37D633B846F1}">
                  <asvg:svgBlip xmlns:asvg="http://schemas.microsoft.com/office/drawing/2016/SVG/main" r:embed="rId5"/>
                </a:ext>
              </a:extLst>
            </a:blip>
            <a:stretch>
              <a:fillRect l="0" t="-1273" r="0" b="-1276"/>
            </a:stretch>
          </a:blipFill>
        </p:spPr>
      </p:sp>
      <p:sp>
        <p:nvSpPr>
          <p:cNvPr name="Freeform 10" id="10"/>
          <p:cNvSpPr/>
          <p:nvPr/>
        </p:nvSpPr>
        <p:spPr>
          <a:xfrm flipH="false" flipV="false" rot="0">
            <a:off x="1024385" y="9529724"/>
            <a:ext cx="1680000" cy="249898"/>
          </a:xfrm>
          <a:custGeom>
            <a:avLst/>
            <a:gdLst/>
            <a:ahLst/>
            <a:cxnLst/>
            <a:rect r="r" b="b" t="t" l="l"/>
            <a:pathLst>
              <a:path h="249898" w="1680000">
                <a:moveTo>
                  <a:pt x="0" y="0"/>
                </a:moveTo>
                <a:lnTo>
                  <a:pt x="1680001" y="0"/>
                </a:lnTo>
                <a:lnTo>
                  <a:pt x="1680001" y="249898"/>
                </a:lnTo>
                <a:lnTo>
                  <a:pt x="0" y="249898"/>
                </a:lnTo>
                <a:lnTo>
                  <a:pt x="0" y="0"/>
                </a:lnTo>
                <a:close/>
              </a:path>
            </a:pathLst>
          </a:custGeom>
          <a:blipFill>
            <a:blip r:embed="rId4">
              <a:extLst>
                <a:ext uri="{96DAC541-7B7A-43D3-8B79-37D633B846F1}">
                  <asvg:svgBlip xmlns:asvg="http://schemas.microsoft.com/office/drawing/2016/SVG/main" r:embed="rId5"/>
                </a:ext>
              </a:extLst>
            </a:blip>
            <a:stretch>
              <a:fillRect l="0" t="-1273" r="0" b="-1276"/>
            </a:stretch>
          </a:blipFill>
        </p:spPr>
      </p:sp>
      <p:sp>
        <p:nvSpPr>
          <p:cNvPr name="TextBox 11" id="11"/>
          <p:cNvSpPr txBox="true"/>
          <p:nvPr/>
        </p:nvSpPr>
        <p:spPr>
          <a:xfrm rot="0">
            <a:off x="390230" y="2905763"/>
            <a:ext cx="7670187" cy="2567540"/>
          </a:xfrm>
          <a:prstGeom prst="rect">
            <a:avLst/>
          </a:prstGeom>
        </p:spPr>
        <p:txBody>
          <a:bodyPr anchor="t" rtlCol="false" tIns="0" lIns="0" bIns="0" rIns="0">
            <a:spAutoFit/>
          </a:bodyPr>
          <a:lstStyle/>
          <a:p>
            <a:pPr algn="just" marL="548640" indent="-182880" lvl="2">
              <a:lnSpc>
                <a:spcPts val="3358"/>
              </a:lnSpc>
              <a:buFont typeface="Arial"/>
              <a:buChar char="⚬"/>
            </a:pPr>
            <a:r>
              <a:rPr lang="en-US" sz="2400">
                <a:solidFill>
                  <a:srgbClr val="0F4662"/>
                </a:solidFill>
                <a:latin typeface="Quicksand"/>
                <a:ea typeface="Quicksand"/>
                <a:cs typeface="Quicksand"/>
                <a:sym typeface="Quicksand"/>
              </a:rPr>
              <a:t>Design and implement an end-to-end platform that reduces food waste by efficiently redistributing surplus food from restaurants to beneficiaries.</a:t>
            </a:r>
          </a:p>
          <a:p>
            <a:pPr algn="just" marL="548640" indent="-182880" lvl="2">
              <a:lnSpc>
                <a:spcPts val="3358"/>
              </a:lnSpc>
              <a:buFont typeface="Arial"/>
              <a:buChar char="⚬"/>
            </a:pPr>
            <a:r>
              <a:rPr lang="en-US" sz="2400">
                <a:solidFill>
                  <a:srgbClr val="0F4662"/>
                </a:solidFill>
                <a:latin typeface="Quicksand"/>
                <a:ea typeface="Quicksand"/>
                <a:cs typeface="Quicksand"/>
                <a:sym typeface="Quicksand"/>
              </a:rPr>
              <a:t>Provide mobile and web applications with clear, role-based user experiences.</a:t>
            </a:r>
          </a:p>
        </p:txBody>
      </p:sp>
      <p:sp>
        <p:nvSpPr>
          <p:cNvPr name="TextBox 12" id="12"/>
          <p:cNvSpPr txBox="true"/>
          <p:nvPr/>
        </p:nvSpPr>
        <p:spPr>
          <a:xfrm rot="0">
            <a:off x="11598335" y="6740947"/>
            <a:ext cx="6189383" cy="1729473"/>
          </a:xfrm>
          <a:prstGeom prst="rect">
            <a:avLst/>
          </a:prstGeom>
        </p:spPr>
        <p:txBody>
          <a:bodyPr anchor="t" rtlCol="false" tIns="0" lIns="0" bIns="0" rIns="0">
            <a:spAutoFit/>
          </a:bodyPr>
          <a:lstStyle/>
          <a:p>
            <a:pPr algn="l" marL="548640" indent="-182880" lvl="2">
              <a:lnSpc>
                <a:spcPts val="3358"/>
              </a:lnSpc>
              <a:buFont typeface="Arial"/>
              <a:buChar char="⚬"/>
            </a:pPr>
            <a:r>
              <a:rPr lang="en-US" sz="2400">
                <a:solidFill>
                  <a:srgbClr val="0F4662"/>
                </a:solidFill>
                <a:latin typeface="Quicksand"/>
                <a:ea typeface="Quicksand"/>
                <a:cs typeface="Quicksand"/>
                <a:sym typeface="Quicksand"/>
              </a:rPr>
              <a:t>Visualize predictions, food surplus trends, and system performance.</a:t>
            </a:r>
          </a:p>
          <a:p>
            <a:pPr algn="just" marL="548640" indent="-182880" lvl="2">
              <a:lnSpc>
                <a:spcPts val="3358"/>
              </a:lnSpc>
              <a:buFont typeface="Arial"/>
              <a:buChar char="⚬"/>
            </a:pPr>
            <a:r>
              <a:rPr lang="en-US" sz="2400">
                <a:solidFill>
                  <a:srgbClr val="0F4662"/>
                </a:solidFill>
                <a:latin typeface="Quicksand"/>
                <a:ea typeface="Quicksand"/>
                <a:cs typeface="Quicksand"/>
                <a:sym typeface="Quicksand"/>
              </a:rPr>
              <a:t>Support data-driven decisions that lead to measurable reduction in food waste.</a:t>
            </a:r>
          </a:p>
        </p:txBody>
      </p:sp>
      <p:sp>
        <p:nvSpPr>
          <p:cNvPr name="TextBox 13" id="13"/>
          <p:cNvSpPr txBox="true"/>
          <p:nvPr/>
        </p:nvSpPr>
        <p:spPr>
          <a:xfrm rot="0">
            <a:off x="11906602" y="6062653"/>
            <a:ext cx="5348230" cy="557498"/>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Analytics &amp; Decision Support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886758" y="1986544"/>
            <a:ext cx="5385768" cy="7271756"/>
          </a:xfrm>
          <a:custGeom>
            <a:avLst/>
            <a:gdLst/>
            <a:ahLst/>
            <a:cxnLst/>
            <a:rect r="r" b="b" t="t" l="l"/>
            <a:pathLst>
              <a:path h="7271756" w="5385768">
                <a:moveTo>
                  <a:pt x="0" y="0"/>
                </a:moveTo>
                <a:lnTo>
                  <a:pt x="5385769" y="0"/>
                </a:lnTo>
                <a:lnTo>
                  <a:pt x="5385769" y="7271756"/>
                </a:lnTo>
                <a:lnTo>
                  <a:pt x="0" y="72717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30957" y="2918784"/>
            <a:ext cx="1297372" cy="1297372"/>
          </a:xfrm>
          <a:custGeom>
            <a:avLst/>
            <a:gdLst/>
            <a:ahLst/>
            <a:cxnLst/>
            <a:rect r="r" b="b" t="t" l="l"/>
            <a:pathLst>
              <a:path h="1297372" w="1297372">
                <a:moveTo>
                  <a:pt x="0" y="0"/>
                </a:moveTo>
                <a:lnTo>
                  <a:pt x="1297371" y="0"/>
                </a:lnTo>
                <a:lnTo>
                  <a:pt x="1297371" y="1297372"/>
                </a:lnTo>
                <a:lnTo>
                  <a:pt x="0" y="1297372"/>
                </a:lnTo>
                <a:lnTo>
                  <a:pt x="0" y="0"/>
                </a:lnTo>
                <a:close/>
              </a:path>
            </a:pathLst>
          </a:custGeom>
          <a:blipFill>
            <a:blip r:embed="rId4">
              <a:extLst>
                <a:ext uri="{96DAC541-7B7A-43D3-8B79-37D633B846F1}">
                  <asvg:svgBlip xmlns:asvg="http://schemas.microsoft.com/office/drawing/2016/SVG/main" r:embed="rId5"/>
                </a:ext>
              </a:extLst>
            </a:blip>
            <a:stretch>
              <a:fillRect l="0" t="-729" r="0" b="-729"/>
            </a:stretch>
          </a:blipFill>
        </p:spPr>
      </p:sp>
      <p:sp>
        <p:nvSpPr>
          <p:cNvPr name="Freeform 4" id="4"/>
          <p:cNvSpPr/>
          <p:nvPr/>
        </p:nvSpPr>
        <p:spPr>
          <a:xfrm flipH="false" flipV="false" rot="0">
            <a:off x="6451121" y="1986544"/>
            <a:ext cx="5385768" cy="7271756"/>
          </a:xfrm>
          <a:custGeom>
            <a:avLst/>
            <a:gdLst/>
            <a:ahLst/>
            <a:cxnLst/>
            <a:rect r="r" b="b" t="t" l="l"/>
            <a:pathLst>
              <a:path h="7271756" w="5385768">
                <a:moveTo>
                  <a:pt x="0" y="0"/>
                </a:moveTo>
                <a:lnTo>
                  <a:pt x="5385768" y="0"/>
                </a:lnTo>
                <a:lnTo>
                  <a:pt x="5385768" y="7271756"/>
                </a:lnTo>
                <a:lnTo>
                  <a:pt x="0" y="72717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295037" y="2809618"/>
            <a:ext cx="1329881" cy="1347026"/>
          </a:xfrm>
          <a:custGeom>
            <a:avLst/>
            <a:gdLst/>
            <a:ahLst/>
            <a:cxnLst/>
            <a:rect r="r" b="b" t="t" l="l"/>
            <a:pathLst>
              <a:path h="1347026" w="1329881">
                <a:moveTo>
                  <a:pt x="0" y="0"/>
                </a:moveTo>
                <a:lnTo>
                  <a:pt x="1329880" y="0"/>
                </a:lnTo>
                <a:lnTo>
                  <a:pt x="1329880" y="1347025"/>
                </a:lnTo>
                <a:lnTo>
                  <a:pt x="0" y="1347025"/>
                </a:lnTo>
                <a:lnTo>
                  <a:pt x="0" y="0"/>
                </a:lnTo>
                <a:close/>
              </a:path>
            </a:pathLst>
          </a:custGeom>
          <a:blipFill>
            <a:blip r:embed="rId8">
              <a:extLst>
                <a:ext uri="{96DAC541-7B7A-43D3-8B79-37D633B846F1}">
                  <asvg:svgBlip xmlns:asvg="http://schemas.microsoft.com/office/drawing/2016/SVG/main" r:embed="rId9"/>
                </a:ext>
              </a:extLst>
            </a:blip>
            <a:stretch>
              <a:fillRect l="0" t="-68" r="0" b="-69"/>
            </a:stretch>
          </a:blipFill>
        </p:spPr>
      </p:sp>
      <p:sp>
        <p:nvSpPr>
          <p:cNvPr name="Freeform 6" id="6"/>
          <p:cNvSpPr/>
          <p:nvPr/>
        </p:nvSpPr>
        <p:spPr>
          <a:xfrm flipH="false" flipV="false" rot="0">
            <a:off x="12015473" y="1986544"/>
            <a:ext cx="5385768" cy="7271756"/>
          </a:xfrm>
          <a:custGeom>
            <a:avLst/>
            <a:gdLst/>
            <a:ahLst/>
            <a:cxnLst/>
            <a:rect r="r" b="b" t="t" l="l"/>
            <a:pathLst>
              <a:path h="7271756" w="5385768">
                <a:moveTo>
                  <a:pt x="0" y="0"/>
                </a:moveTo>
                <a:lnTo>
                  <a:pt x="5385769" y="0"/>
                </a:lnTo>
                <a:lnTo>
                  <a:pt x="5385769" y="7271756"/>
                </a:lnTo>
                <a:lnTo>
                  <a:pt x="0" y="72717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903033" y="2918784"/>
            <a:ext cx="1237859" cy="1237859"/>
          </a:xfrm>
          <a:custGeom>
            <a:avLst/>
            <a:gdLst/>
            <a:ahLst/>
            <a:cxnLst/>
            <a:rect r="r" b="b" t="t" l="l"/>
            <a:pathLst>
              <a:path h="1237859" w="1237859">
                <a:moveTo>
                  <a:pt x="0" y="0"/>
                </a:moveTo>
                <a:lnTo>
                  <a:pt x="1237859" y="0"/>
                </a:lnTo>
                <a:lnTo>
                  <a:pt x="1237859" y="1237859"/>
                </a:lnTo>
                <a:lnTo>
                  <a:pt x="0" y="123785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028700" y="485413"/>
            <a:ext cx="6285509"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Expected Outcomes</a:t>
            </a:r>
          </a:p>
        </p:txBody>
      </p:sp>
      <p:sp>
        <p:nvSpPr>
          <p:cNvPr name="TextBox 9" id="9"/>
          <p:cNvSpPr txBox="true"/>
          <p:nvPr/>
        </p:nvSpPr>
        <p:spPr>
          <a:xfrm rot="0">
            <a:off x="1113539" y="5086464"/>
            <a:ext cx="4932207" cy="3823345"/>
          </a:xfrm>
          <a:prstGeom prst="rect">
            <a:avLst/>
          </a:prstGeom>
        </p:spPr>
        <p:txBody>
          <a:bodyPr anchor="t" rtlCol="false" tIns="0" lIns="0" bIns="0" rIns="0">
            <a:spAutoFit/>
          </a:bodyPr>
          <a:lstStyle/>
          <a:p>
            <a:pPr algn="l" marL="570827" indent="-190276" lvl="2">
              <a:lnSpc>
                <a:spcPts val="4245"/>
              </a:lnSpc>
              <a:buFont typeface="Arial"/>
              <a:buChar char="⚬"/>
            </a:pPr>
            <a:r>
              <a:rPr lang="en-US" sz="2497">
                <a:solidFill>
                  <a:srgbClr val="0F4662"/>
                </a:solidFill>
                <a:latin typeface="Quicksand"/>
                <a:ea typeface="Quicksand"/>
                <a:cs typeface="Quicksand"/>
                <a:sym typeface="Quicksand"/>
              </a:rPr>
              <a:t>Mobile and web applications with shared features for managing food donations and requests.</a:t>
            </a:r>
          </a:p>
          <a:p>
            <a:pPr algn="l" marL="570827" indent="-190276" lvl="2">
              <a:lnSpc>
                <a:spcPts val="4245"/>
              </a:lnSpc>
              <a:buFont typeface="Arial"/>
              <a:buChar char="⚬"/>
            </a:pPr>
            <a:r>
              <a:rPr lang="en-US" sz="2497">
                <a:solidFill>
                  <a:srgbClr val="0F4662"/>
                </a:solidFill>
                <a:latin typeface="Quicksand"/>
                <a:ea typeface="Quicksand"/>
                <a:cs typeface="Quicksand"/>
                <a:sym typeface="Quicksand"/>
              </a:rPr>
              <a:t>A consistent experience across platforms for monitoring and coordination.</a:t>
            </a:r>
          </a:p>
        </p:txBody>
      </p:sp>
      <p:sp>
        <p:nvSpPr>
          <p:cNvPr name="TextBox 10" id="10"/>
          <p:cNvSpPr txBox="true"/>
          <p:nvPr/>
        </p:nvSpPr>
        <p:spPr>
          <a:xfrm rot="0">
            <a:off x="1170642" y="4513955"/>
            <a:ext cx="5101885" cy="557498"/>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Fully Functional System</a:t>
            </a:r>
          </a:p>
        </p:txBody>
      </p:sp>
      <p:sp>
        <p:nvSpPr>
          <p:cNvPr name="TextBox 11" id="11"/>
          <p:cNvSpPr txBox="true"/>
          <p:nvPr/>
        </p:nvSpPr>
        <p:spPr>
          <a:xfrm rot="0">
            <a:off x="6593053" y="5170703"/>
            <a:ext cx="5101885" cy="3289697"/>
          </a:xfrm>
          <a:prstGeom prst="rect">
            <a:avLst/>
          </a:prstGeom>
        </p:spPr>
        <p:txBody>
          <a:bodyPr anchor="t" rtlCol="false" tIns="0" lIns="0" bIns="0" rIns="0">
            <a:spAutoFit/>
          </a:bodyPr>
          <a:lstStyle/>
          <a:p>
            <a:pPr algn="l" marL="571378" indent="-190459" lvl="2">
              <a:lnSpc>
                <a:spcPts val="4248"/>
              </a:lnSpc>
              <a:buFont typeface="Arial"/>
              <a:buChar char="⚬"/>
            </a:pPr>
            <a:r>
              <a:rPr lang="en-US" sz="2499">
                <a:solidFill>
                  <a:srgbClr val="0F4662"/>
                </a:solidFill>
                <a:latin typeface="Quicksand"/>
                <a:ea typeface="Quicksand"/>
                <a:cs typeface="Quicksand"/>
                <a:sym typeface="Quicksand"/>
              </a:rPr>
              <a:t>Trained and evaluated ML models </a:t>
            </a:r>
          </a:p>
          <a:p>
            <a:pPr algn="l" marL="571378" indent="-190459" lvl="2">
              <a:lnSpc>
                <a:spcPts val="4248"/>
              </a:lnSpc>
              <a:buFont typeface="Arial"/>
              <a:buChar char="⚬"/>
            </a:pPr>
            <a:r>
              <a:rPr lang="en-US" sz="2499">
                <a:solidFill>
                  <a:srgbClr val="0F4662"/>
                </a:solidFill>
                <a:latin typeface="Quicksand"/>
                <a:ea typeface="Quicksand"/>
                <a:cs typeface="Quicksand"/>
                <a:sym typeface="Quicksand"/>
              </a:rPr>
              <a:t>AI-driven recommendations and chatbot assistance to improve usability and efficiency.</a:t>
            </a:r>
          </a:p>
        </p:txBody>
      </p:sp>
      <p:sp>
        <p:nvSpPr>
          <p:cNvPr name="TextBox 12" id="12"/>
          <p:cNvSpPr txBox="true"/>
          <p:nvPr/>
        </p:nvSpPr>
        <p:spPr>
          <a:xfrm rot="0">
            <a:off x="6734994" y="4513955"/>
            <a:ext cx="5101885" cy="557498"/>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Intelligent Decision Support</a:t>
            </a:r>
          </a:p>
        </p:txBody>
      </p:sp>
      <p:sp>
        <p:nvSpPr>
          <p:cNvPr name="TextBox 13" id="13"/>
          <p:cNvSpPr txBox="true"/>
          <p:nvPr/>
        </p:nvSpPr>
        <p:spPr>
          <a:xfrm rot="0">
            <a:off x="12017854" y="5086464"/>
            <a:ext cx="5462464" cy="3289697"/>
          </a:xfrm>
          <a:prstGeom prst="rect">
            <a:avLst/>
          </a:prstGeom>
        </p:spPr>
        <p:txBody>
          <a:bodyPr anchor="t" rtlCol="false" tIns="0" lIns="0" bIns="0" rIns="0">
            <a:spAutoFit/>
          </a:bodyPr>
          <a:lstStyle/>
          <a:p>
            <a:pPr algn="l" marL="571378" indent="-190459" lvl="2">
              <a:lnSpc>
                <a:spcPts val="4248"/>
              </a:lnSpc>
              <a:buFont typeface="Arial"/>
              <a:buChar char="⚬"/>
            </a:pPr>
            <a:r>
              <a:rPr lang="en-US" sz="2499">
                <a:solidFill>
                  <a:srgbClr val="0F4662"/>
                </a:solidFill>
                <a:latin typeface="Quicksand"/>
                <a:ea typeface="Quicksand"/>
                <a:cs typeface="Quicksand"/>
                <a:sym typeface="Quicksand"/>
              </a:rPr>
              <a:t>Seamless connection between mobile app, web dashboard, backend services, and AI models</a:t>
            </a:r>
          </a:p>
          <a:p>
            <a:pPr algn="l" marL="571378" indent="-190459" lvl="2">
              <a:lnSpc>
                <a:spcPts val="4248"/>
              </a:lnSpc>
              <a:buFont typeface="Arial"/>
              <a:buChar char="⚬"/>
            </a:pPr>
            <a:r>
              <a:rPr lang="en-US" sz="2499">
                <a:solidFill>
                  <a:srgbClr val="0F4662"/>
                </a:solidFill>
                <a:latin typeface="Quicksand"/>
                <a:ea typeface="Quicksand"/>
                <a:cs typeface="Quicksand"/>
                <a:sym typeface="Quicksand"/>
              </a:rPr>
              <a:t> A working prototype demonstrating real-world deployment capability.</a:t>
            </a:r>
          </a:p>
        </p:txBody>
      </p:sp>
      <p:sp>
        <p:nvSpPr>
          <p:cNvPr name="TextBox 14" id="14"/>
          <p:cNvSpPr txBox="true"/>
          <p:nvPr/>
        </p:nvSpPr>
        <p:spPr>
          <a:xfrm rot="0">
            <a:off x="12157415" y="4513955"/>
            <a:ext cx="5101885" cy="557498"/>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Complete System Integration</a:t>
            </a:r>
          </a:p>
        </p:txBody>
      </p:sp>
      <p:grpSp>
        <p:nvGrpSpPr>
          <p:cNvPr name="Group 15" id="15"/>
          <p:cNvGrpSpPr/>
          <p:nvPr/>
        </p:nvGrpSpPr>
        <p:grpSpPr>
          <a:xfrm rot="0">
            <a:off x="10728960" y="952500"/>
            <a:ext cx="6568440" cy="76200"/>
            <a:chOff x="0" y="0"/>
            <a:chExt cx="8757920" cy="101600"/>
          </a:xfrm>
        </p:grpSpPr>
        <p:sp>
          <p:nvSpPr>
            <p:cNvPr name="Freeform 16" id="16"/>
            <p:cNvSpPr/>
            <p:nvPr/>
          </p:nvSpPr>
          <p:spPr>
            <a:xfrm flipH="false" flipV="false" rot="0">
              <a:off x="0" y="0"/>
              <a:ext cx="8757920" cy="101600"/>
            </a:xfrm>
            <a:custGeom>
              <a:avLst/>
              <a:gdLst/>
              <a:ahLst/>
              <a:cxnLst/>
              <a:rect r="r" b="b" t="t" l="l"/>
              <a:pathLst>
                <a:path h="101600" w="8757920">
                  <a:moveTo>
                    <a:pt x="0" y="0"/>
                  </a:moveTo>
                  <a:lnTo>
                    <a:pt x="8757920" y="101600"/>
                  </a:lnTo>
                </a:path>
              </a:pathLst>
            </a:custGeom>
            <a:blipFill>
              <a:blip r:embed="rId12">
                <a:alphaModFix amt="0"/>
              </a:blip>
              <a:stretch>
                <a:fillRect l="0" t="-1629610" r="0" b="-1629610"/>
              </a:stretch>
            </a:blipFill>
            <a:ln w="76200" cap="sq">
              <a:solidFill>
                <a:srgbClr val="0F4662"/>
              </a:solidFill>
              <a:prstDash val="solid"/>
              <a:miter/>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2929157" y="1986544"/>
            <a:ext cx="5385768" cy="6896814"/>
          </a:xfrm>
          <a:custGeom>
            <a:avLst/>
            <a:gdLst/>
            <a:ahLst/>
            <a:cxnLst/>
            <a:rect r="r" b="b" t="t" l="l"/>
            <a:pathLst>
              <a:path h="6896814" w="5385768">
                <a:moveTo>
                  <a:pt x="0" y="0"/>
                </a:moveTo>
                <a:lnTo>
                  <a:pt x="5385768" y="0"/>
                </a:lnTo>
                <a:lnTo>
                  <a:pt x="5385768"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364067" y="1986544"/>
            <a:ext cx="5385768" cy="6896814"/>
          </a:xfrm>
          <a:custGeom>
            <a:avLst/>
            <a:gdLst/>
            <a:ahLst/>
            <a:cxnLst/>
            <a:rect r="r" b="b" t="t" l="l"/>
            <a:pathLst>
              <a:path h="6896814" w="5385768">
                <a:moveTo>
                  <a:pt x="0" y="0"/>
                </a:moveTo>
                <a:lnTo>
                  <a:pt x="5385768" y="0"/>
                </a:lnTo>
                <a:lnTo>
                  <a:pt x="5385768" y="6896814"/>
                </a:lnTo>
                <a:lnTo>
                  <a:pt x="0" y="6896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728960" y="952500"/>
            <a:ext cx="6568440" cy="76200"/>
            <a:chOff x="0" y="0"/>
            <a:chExt cx="8757920" cy="101600"/>
          </a:xfrm>
        </p:grpSpPr>
        <p:sp>
          <p:nvSpPr>
            <p:cNvPr name="Freeform 5" id="5"/>
            <p:cNvSpPr/>
            <p:nvPr/>
          </p:nvSpPr>
          <p:spPr>
            <a:xfrm flipH="false" flipV="false" rot="0">
              <a:off x="0" y="0"/>
              <a:ext cx="8757920" cy="101600"/>
            </a:xfrm>
            <a:custGeom>
              <a:avLst/>
              <a:gdLst/>
              <a:ahLst/>
              <a:cxnLst/>
              <a:rect r="r" b="b" t="t" l="l"/>
              <a:pathLst>
                <a:path h="101600" w="8757920">
                  <a:moveTo>
                    <a:pt x="0" y="0"/>
                  </a:moveTo>
                  <a:lnTo>
                    <a:pt x="8757920" y="101600"/>
                  </a:lnTo>
                </a:path>
              </a:pathLst>
            </a:custGeom>
            <a:blipFill>
              <a:blip r:embed="rId6">
                <a:alphaModFix amt="0"/>
              </a:blip>
              <a:stretch>
                <a:fillRect l="0" t="-1629610" r="0" b="-1629610"/>
              </a:stretch>
            </a:blipFill>
            <a:ln w="76200" cap="sq">
              <a:solidFill>
                <a:srgbClr val="0F4662"/>
              </a:solidFill>
              <a:prstDash val="solid"/>
              <a:miter/>
            </a:ln>
          </p:spPr>
        </p:sp>
      </p:grpSp>
      <p:sp>
        <p:nvSpPr>
          <p:cNvPr name="Freeform 6" id="6"/>
          <p:cNvSpPr/>
          <p:nvPr/>
        </p:nvSpPr>
        <p:spPr>
          <a:xfrm flipH="false" flipV="false" rot="0">
            <a:off x="4713351" y="2930509"/>
            <a:ext cx="1817389" cy="1817389"/>
          </a:xfrm>
          <a:custGeom>
            <a:avLst/>
            <a:gdLst/>
            <a:ahLst/>
            <a:cxnLst/>
            <a:rect r="r" b="b" t="t" l="l"/>
            <a:pathLst>
              <a:path h="1817389" w="1817389">
                <a:moveTo>
                  <a:pt x="0" y="0"/>
                </a:moveTo>
                <a:lnTo>
                  <a:pt x="1817389" y="0"/>
                </a:lnTo>
                <a:lnTo>
                  <a:pt x="1817389" y="1817389"/>
                </a:lnTo>
                <a:lnTo>
                  <a:pt x="0" y="18173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997323" y="3004742"/>
            <a:ext cx="2195951" cy="1668923"/>
          </a:xfrm>
          <a:custGeom>
            <a:avLst/>
            <a:gdLst/>
            <a:ahLst/>
            <a:cxnLst/>
            <a:rect r="r" b="b" t="t" l="l"/>
            <a:pathLst>
              <a:path h="1668923" w="2195951">
                <a:moveTo>
                  <a:pt x="0" y="0"/>
                </a:moveTo>
                <a:lnTo>
                  <a:pt x="2195951" y="0"/>
                </a:lnTo>
                <a:lnTo>
                  <a:pt x="2195951" y="1668923"/>
                </a:lnTo>
                <a:lnTo>
                  <a:pt x="0" y="1668923"/>
                </a:lnTo>
                <a:lnTo>
                  <a:pt x="0" y="0"/>
                </a:lnTo>
                <a:close/>
              </a:path>
            </a:pathLst>
          </a:custGeom>
          <a:blipFill>
            <a:blip r:embed="rId9">
              <a:extLst>
                <a:ext uri="{96DAC541-7B7A-43D3-8B79-37D633B846F1}">
                  <asvg:svgBlip xmlns:asvg="http://schemas.microsoft.com/office/drawing/2016/SVG/main" r:embed="rId10"/>
                </a:ext>
              </a:extLst>
            </a:blip>
            <a:stretch>
              <a:fillRect l="0" t="-125" r="0" b="-124"/>
            </a:stretch>
          </a:blipFill>
        </p:spPr>
      </p:sp>
      <p:sp>
        <p:nvSpPr>
          <p:cNvPr name="TextBox 8" id="8"/>
          <p:cNvSpPr txBox="true"/>
          <p:nvPr/>
        </p:nvSpPr>
        <p:spPr>
          <a:xfrm rot="0">
            <a:off x="1028700" y="485413"/>
            <a:ext cx="6285509"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Expected Outcomes</a:t>
            </a:r>
          </a:p>
        </p:txBody>
      </p:sp>
      <p:sp>
        <p:nvSpPr>
          <p:cNvPr name="TextBox 9" id="9"/>
          <p:cNvSpPr txBox="true"/>
          <p:nvPr/>
        </p:nvSpPr>
        <p:spPr>
          <a:xfrm rot="0">
            <a:off x="2927290" y="5422373"/>
            <a:ext cx="5387635" cy="3180950"/>
          </a:xfrm>
          <a:prstGeom prst="rect">
            <a:avLst/>
          </a:prstGeom>
        </p:spPr>
        <p:txBody>
          <a:bodyPr anchor="t" rtlCol="false" tIns="0" lIns="0" bIns="0" rIns="0">
            <a:spAutoFit/>
          </a:bodyPr>
          <a:lstStyle/>
          <a:p>
            <a:pPr algn="l" marL="548640" indent="-182880" lvl="2">
              <a:lnSpc>
                <a:spcPts val="4079"/>
              </a:lnSpc>
              <a:buFont typeface="Arial"/>
              <a:buChar char="⚬"/>
            </a:pPr>
            <a:r>
              <a:rPr lang="en-US" sz="2400">
                <a:solidFill>
                  <a:srgbClr val="0F4662"/>
                </a:solidFill>
                <a:latin typeface="Quicksand"/>
                <a:ea typeface="Quicksand"/>
                <a:cs typeface="Quicksand"/>
                <a:sym typeface="Quicksand"/>
              </a:rPr>
              <a:t>Clear performance metrics showing model accuracy and system effectiveness.</a:t>
            </a:r>
          </a:p>
          <a:p>
            <a:pPr algn="l" marL="548640" indent="-182880" lvl="2">
              <a:lnSpc>
                <a:spcPts val="4079"/>
              </a:lnSpc>
              <a:buFont typeface="Arial"/>
              <a:buChar char="⚬"/>
            </a:pPr>
            <a:r>
              <a:rPr lang="en-US" sz="2400">
                <a:solidFill>
                  <a:srgbClr val="0F4662"/>
                </a:solidFill>
                <a:latin typeface="Quicksand"/>
                <a:ea typeface="Quicksand"/>
                <a:cs typeface="Quicksand"/>
                <a:sym typeface="Quicksand"/>
              </a:rPr>
              <a:t> Visual analytics and reports enabling reduced food waste and optimized donations.</a:t>
            </a:r>
          </a:p>
        </p:txBody>
      </p:sp>
      <p:sp>
        <p:nvSpPr>
          <p:cNvPr name="TextBox 10" id="10"/>
          <p:cNvSpPr txBox="true"/>
          <p:nvPr/>
        </p:nvSpPr>
        <p:spPr>
          <a:xfrm rot="0">
            <a:off x="3824307" y="4798076"/>
            <a:ext cx="3489903" cy="557498"/>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Measurable Impact</a:t>
            </a:r>
          </a:p>
        </p:txBody>
      </p:sp>
      <p:sp>
        <p:nvSpPr>
          <p:cNvPr name="TextBox 11" id="11"/>
          <p:cNvSpPr txBox="true"/>
          <p:nvPr/>
        </p:nvSpPr>
        <p:spPr>
          <a:xfrm rot="0">
            <a:off x="10364067" y="5231749"/>
            <a:ext cx="5462464" cy="3572002"/>
          </a:xfrm>
          <a:prstGeom prst="rect">
            <a:avLst/>
          </a:prstGeom>
        </p:spPr>
        <p:txBody>
          <a:bodyPr anchor="t" rtlCol="false" tIns="0" lIns="0" bIns="0" rIns="0">
            <a:spAutoFit/>
          </a:bodyPr>
          <a:lstStyle/>
          <a:p>
            <a:pPr algn="l" marL="548640" indent="-182880" lvl="2">
              <a:lnSpc>
                <a:spcPts val="4079"/>
              </a:lnSpc>
              <a:buFont typeface="Arial"/>
              <a:buChar char="⚬"/>
            </a:pPr>
            <a:r>
              <a:rPr lang="en-US" sz="2400">
                <a:solidFill>
                  <a:srgbClr val="0F4662"/>
                </a:solidFill>
                <a:latin typeface="Quicksand"/>
                <a:ea typeface="Quicksand"/>
                <a:cs typeface="Quicksand"/>
                <a:sym typeface="Quicksand"/>
              </a:rPr>
              <a:t>A scalable solution addressing food waste and food insecurity using technology. </a:t>
            </a:r>
          </a:p>
          <a:p>
            <a:pPr algn="l" marL="548640" indent="-182880" lvl="2">
              <a:lnSpc>
                <a:spcPts val="4079"/>
              </a:lnSpc>
              <a:buFont typeface="Arial"/>
              <a:buChar char="⚬"/>
            </a:pPr>
            <a:r>
              <a:rPr lang="en-US" sz="2400">
                <a:solidFill>
                  <a:srgbClr val="0F4662"/>
                </a:solidFill>
                <a:latin typeface="Quicksand"/>
                <a:ea typeface="Quicksand"/>
                <a:cs typeface="Quicksand"/>
                <a:sym typeface="Quicksand"/>
              </a:rPr>
              <a:t>A project that demonstrates industry-ready skills in AI, backend, and full-stack development. </a:t>
            </a:r>
          </a:p>
        </p:txBody>
      </p:sp>
      <p:sp>
        <p:nvSpPr>
          <p:cNvPr name="TextBox 12" id="12"/>
          <p:cNvSpPr txBox="true"/>
          <p:nvPr/>
        </p:nvSpPr>
        <p:spPr>
          <a:xfrm rot="0">
            <a:off x="10904930" y="4798076"/>
            <a:ext cx="4380738" cy="557498"/>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Social &amp; Technical Value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3660650" y="-470144"/>
            <a:ext cx="4627350" cy="10757144"/>
          </a:xfrm>
          <a:custGeom>
            <a:avLst/>
            <a:gdLst/>
            <a:ahLst/>
            <a:cxnLst/>
            <a:rect r="r" b="b" t="t" l="l"/>
            <a:pathLst>
              <a:path h="10757144" w="4627350">
                <a:moveTo>
                  <a:pt x="0" y="0"/>
                </a:moveTo>
                <a:lnTo>
                  <a:pt x="4627350" y="0"/>
                </a:lnTo>
                <a:lnTo>
                  <a:pt x="4627350" y="10757144"/>
                </a:lnTo>
                <a:lnTo>
                  <a:pt x="0" y="10757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470144"/>
            <a:ext cx="4627350" cy="10757144"/>
          </a:xfrm>
          <a:custGeom>
            <a:avLst/>
            <a:gdLst/>
            <a:ahLst/>
            <a:cxnLst/>
            <a:rect r="r" b="b" t="t" l="l"/>
            <a:pathLst>
              <a:path h="10757144" w="4627350">
                <a:moveTo>
                  <a:pt x="0" y="0"/>
                </a:moveTo>
                <a:lnTo>
                  <a:pt x="4627350" y="0"/>
                </a:lnTo>
                <a:lnTo>
                  <a:pt x="4627350" y="10757144"/>
                </a:lnTo>
                <a:lnTo>
                  <a:pt x="0" y="10757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485413"/>
            <a:ext cx="5702846"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Literature Review</a:t>
            </a:r>
          </a:p>
        </p:txBody>
      </p:sp>
      <p:graphicFrame>
        <p:nvGraphicFramePr>
          <p:cNvPr name="Table 5" id="5"/>
          <p:cNvGraphicFramePr>
            <a:graphicFrameLocks noGrp="true"/>
          </p:cNvGraphicFramePr>
          <p:nvPr/>
        </p:nvGraphicFramePr>
        <p:xfrm>
          <a:off x="663698" y="2334313"/>
          <a:ext cx="16929100" cy="6197600"/>
        </p:xfrm>
        <a:graphic>
          <a:graphicData uri="http://schemas.openxmlformats.org/drawingml/2006/table">
            <a:tbl>
              <a:tblPr/>
              <a:tblGrid>
                <a:gridCol w="1798242"/>
                <a:gridCol w="3399006"/>
                <a:gridCol w="2608388"/>
                <a:gridCol w="2840579"/>
                <a:gridCol w="2691931"/>
                <a:gridCol w="3590953"/>
              </a:tblGrid>
              <a:tr h="1118333">
                <a:tc>
                  <a:txBody>
                    <a:bodyPr anchor="t" rtlCol="false"/>
                    <a:lstStyle/>
                    <a:p>
                      <a:pPr algn="l">
                        <a:lnSpc>
                          <a:spcPts val="1679"/>
                        </a:lnSpc>
                        <a:defRPr/>
                      </a:pP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personalized recommendation system</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demand prediction model</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Administrative part (Dashboard)</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AI chatbot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Type of Service</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r>
              <a:tr h="981515">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Olio</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4480"/>
                        </a:lnSpc>
                        <a:defRPr/>
                      </a:pPr>
                      <a:r>
                        <a:rPr lang="en-US" sz="3200">
                          <a:solidFill>
                            <a:srgbClr val="000000"/>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F5EFEB"/>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3359"/>
                        </a:lnSpc>
                        <a:defRPr/>
                      </a:pPr>
                      <a:r>
                        <a:rPr lang="en-US" sz="2400" b="true">
                          <a:solidFill>
                            <a:srgbClr val="0F4662"/>
                          </a:solidFill>
                          <a:latin typeface="Canva Sans Bold"/>
                          <a:ea typeface="Canva Sans Bold"/>
                          <a:cs typeface="Canva Sans Bold"/>
                          <a:sym typeface="Canva Sans Bold"/>
                        </a:rPr>
                        <a:t>Food - Non food</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r>
              <a:tr h="1394332">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Too Good To Go</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4480"/>
                        </a:lnSpc>
                        <a:defRPr/>
                      </a:pPr>
                      <a:r>
                        <a:rPr lang="en-US" sz="3200">
                          <a:solidFill>
                            <a:srgbClr val="000000"/>
                          </a:solidFill>
                          <a:latin typeface="March"/>
                          <a:ea typeface="March"/>
                          <a:cs typeface="March"/>
                          <a:sym typeface="March"/>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March"/>
                          <a:ea typeface="March"/>
                          <a:cs typeface="March"/>
                          <a:sym typeface="March"/>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March"/>
                          <a:ea typeface="March"/>
                          <a:cs typeface="March"/>
                          <a:sym typeface="March"/>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3359"/>
                        </a:lnSpc>
                        <a:defRPr/>
                      </a:pPr>
                      <a:r>
                        <a:rPr lang="en-US" sz="2400" b="true">
                          <a:solidFill>
                            <a:srgbClr val="0F4662"/>
                          </a:solidFill>
                          <a:latin typeface="Canva Sans Bold"/>
                          <a:ea typeface="Canva Sans Bold"/>
                          <a:cs typeface="Canva Sans Bold"/>
                          <a:sym typeface="Canva Sans Bold"/>
                        </a:rPr>
                        <a:t>Baked goods only</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r>
              <a:tr h="1358947">
                <a:tc>
                  <a:txBody>
                    <a:bodyPr anchor="t" rtlCol="false"/>
                    <a:lstStyle/>
                    <a:p>
                      <a:pPr algn="ctr" rtl="true">
                        <a:lnSpc>
                          <a:spcPts val="2847"/>
                        </a:lnSpc>
                        <a:defRPr/>
                      </a:pPr>
                      <a:r>
                        <a:rPr lang="en-US" b="true" sz="2033">
                          <a:solidFill>
                            <a:srgbClr val="0F4662"/>
                          </a:solidFill>
                          <a:latin typeface="Arimo Bold"/>
                          <a:ea typeface="Arimo Bold"/>
                          <a:cs typeface="Arimo Bold"/>
                          <a:sym typeface="Arimo Bold"/>
                        </a:rPr>
                        <a:t>Barkah</a:t>
                      </a:r>
                      <a:r>
                        <a:rPr lang="ar-EG" b="true" sz="2033">
                          <a:solidFill>
                            <a:srgbClr val="0F4662"/>
                          </a:solidFill>
                          <a:latin typeface="Arimo Bold"/>
                          <a:ea typeface="Arimo Bold"/>
                          <a:cs typeface="Arimo Bold"/>
                          <a:sym typeface="Arimo Bold"/>
                          <a:rtl val="true"/>
                        </a:rPr>
                        <a:t> بركه</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4480"/>
                        </a:lnSpc>
                        <a:defRPr/>
                      </a:pPr>
                      <a:r>
                        <a:rPr lang="en-US" sz="3200">
                          <a:solidFill>
                            <a:srgbClr val="000000"/>
                          </a:solidFill>
                          <a:latin typeface="March"/>
                          <a:ea typeface="March"/>
                          <a:cs typeface="March"/>
                          <a:sym typeface="March"/>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F5EFEB"/>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Arimo"/>
                          <a:ea typeface="Arimo"/>
                          <a:cs typeface="Arimo"/>
                          <a:sym typeface="Arimo"/>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3359"/>
                        </a:lnSpc>
                        <a:defRPr/>
                      </a:pPr>
                      <a:r>
                        <a:rPr lang="en-US" sz="2400" b="true">
                          <a:solidFill>
                            <a:srgbClr val="0F4662"/>
                          </a:solidFill>
                          <a:latin typeface="Canva Sans Bold"/>
                          <a:ea typeface="Canva Sans Bold"/>
                          <a:cs typeface="Canva Sans Bold"/>
                          <a:sym typeface="Canva Sans Bold"/>
                        </a:rPr>
                        <a:t>All type of foods</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r>
              <a:tr h="1344473">
                <a:tc>
                  <a:txBody>
                    <a:bodyPr anchor="t" rtlCol="false"/>
                    <a:lstStyle/>
                    <a:p>
                      <a:pPr algn="ctr">
                        <a:lnSpc>
                          <a:spcPts val="2847"/>
                        </a:lnSpc>
                        <a:defRPr/>
                      </a:pPr>
                      <a:r>
                        <a:rPr lang="en-US" sz="2033" b="true">
                          <a:solidFill>
                            <a:srgbClr val="0F4662"/>
                          </a:solidFill>
                          <a:latin typeface="Arimo Bold"/>
                          <a:ea typeface="Arimo Bold"/>
                          <a:cs typeface="Arimo Bold"/>
                          <a:sym typeface="Arimo Bold"/>
                        </a:rPr>
                        <a:t>Eat2Beat </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A6A6A6"/>
                    </a:solidFill>
                  </a:tcPr>
                </a:tc>
                <a:tc>
                  <a:txBody>
                    <a:bodyPr anchor="t" rtlCol="false"/>
                    <a:lstStyle/>
                    <a:p>
                      <a:pPr algn="ctr">
                        <a:lnSpc>
                          <a:spcPts val="4480"/>
                        </a:lnSpc>
                        <a:defRPr/>
                      </a:pPr>
                      <a:r>
                        <a:rPr lang="en-US" sz="3200">
                          <a:solidFill>
                            <a:srgbClr val="000000"/>
                          </a:solidFill>
                          <a:latin typeface="March"/>
                          <a:ea typeface="March"/>
                          <a:cs typeface="March"/>
                          <a:sym typeface="March"/>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b="true">
                          <a:solidFill>
                            <a:srgbClr val="000000"/>
                          </a:solidFill>
                          <a:latin typeface="Arimo Bold"/>
                          <a:ea typeface="Arimo Bold"/>
                          <a:cs typeface="Arimo Bold"/>
                          <a:sym typeface="Arimo Bold"/>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Canva Sans"/>
                          <a:ea typeface="Canva Sans"/>
                          <a:cs typeface="Canva Sans"/>
                          <a:sym typeface="Canva Sans"/>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4480"/>
                        </a:lnSpc>
                        <a:defRPr/>
                      </a:pPr>
                      <a:r>
                        <a:rPr lang="en-US" sz="3200">
                          <a:solidFill>
                            <a:srgbClr val="000000"/>
                          </a:solidFill>
                          <a:latin typeface="Canva Sans"/>
                          <a:ea typeface="Canva Sans"/>
                          <a:cs typeface="Canva Sans"/>
                          <a:sym typeface="Canva Sans"/>
                        </a:rPr>
                        <a:t>✅</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c>
                  <a:txBody>
                    <a:bodyPr anchor="t" rtlCol="false"/>
                    <a:lstStyle/>
                    <a:p>
                      <a:pPr algn="ctr">
                        <a:lnSpc>
                          <a:spcPts val="3359"/>
                        </a:lnSpc>
                        <a:defRPr/>
                      </a:pPr>
                      <a:r>
                        <a:rPr lang="en-US" sz="2400" b="true">
                          <a:solidFill>
                            <a:srgbClr val="0F4662"/>
                          </a:solidFill>
                          <a:latin typeface="Canva Sans Bold"/>
                          <a:ea typeface="Canva Sans Bold"/>
                          <a:cs typeface="Canva Sans Bold"/>
                          <a:sym typeface="Canva Sans Bold"/>
                        </a:rPr>
                        <a:t>All type of foods</a:t>
                      </a:r>
                      <a:endParaRPr lang="en-US" sz="1100"/>
                    </a:p>
                  </a:txBody>
                  <a:tcPr marL="97253" marR="97253" marT="97253" marB="97253" anchor="ctr">
                    <a:lnL cmpd="sng" algn="ctr" cap="flat" w="19451">
                      <a:solidFill>
                        <a:srgbClr val="000000"/>
                      </a:solidFill>
                      <a:prstDash val="solid"/>
                      <a:round/>
                      <a:headEnd type="none" w="med" len="med"/>
                      <a:tailEnd type="none" w="med" len="med"/>
                    </a:lnL>
                    <a:lnR cmpd="sng" algn="ctr" cap="flat" w="19451">
                      <a:solidFill>
                        <a:srgbClr val="000000"/>
                      </a:solidFill>
                      <a:prstDash val="solid"/>
                      <a:round/>
                      <a:headEnd type="none" w="med" len="med"/>
                      <a:tailEnd type="none" w="med" len="med"/>
                    </a:lnR>
                    <a:lnT cmpd="sng" algn="ctr" cap="flat" w="19451">
                      <a:solidFill>
                        <a:srgbClr val="000000"/>
                      </a:solidFill>
                      <a:prstDash val="solid"/>
                      <a:round/>
                      <a:headEnd type="none" w="med" len="med"/>
                      <a:tailEnd type="none" w="med" len="med"/>
                    </a:lnT>
                    <a:lnB cmpd="sng" algn="ctr" cap="flat" w="19451">
                      <a:solidFill>
                        <a:srgbClr val="000000"/>
                      </a:solidFill>
                      <a:prstDash val="solid"/>
                      <a:round/>
                      <a:headEnd type="none" w="med" len="med"/>
                      <a:tailEnd type="none" w="med" len="med"/>
                    </a:lnB>
                    <a:solidFill>
                      <a:srgbClr val="F5EFEB"/>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2277525" y="-470144"/>
            <a:ext cx="6158941" cy="10757144"/>
          </a:xfrm>
          <a:custGeom>
            <a:avLst/>
            <a:gdLst/>
            <a:ahLst/>
            <a:cxnLst/>
            <a:rect r="r" b="b" t="t" l="l"/>
            <a:pathLst>
              <a:path h="10757144" w="6158941">
                <a:moveTo>
                  <a:pt x="0" y="0"/>
                </a:moveTo>
                <a:lnTo>
                  <a:pt x="6158941" y="0"/>
                </a:lnTo>
                <a:lnTo>
                  <a:pt x="6158941" y="10757144"/>
                </a:lnTo>
                <a:lnTo>
                  <a:pt x="0" y="10757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728960" y="990600"/>
            <a:ext cx="6568440" cy="76200"/>
            <a:chOff x="0" y="0"/>
            <a:chExt cx="8757920" cy="101600"/>
          </a:xfrm>
        </p:grpSpPr>
        <p:sp>
          <p:nvSpPr>
            <p:cNvPr name="Freeform 4" id="4"/>
            <p:cNvSpPr/>
            <p:nvPr/>
          </p:nvSpPr>
          <p:spPr>
            <a:xfrm flipH="false" flipV="false" rot="0">
              <a:off x="0" y="0"/>
              <a:ext cx="8757920" cy="101600"/>
            </a:xfrm>
            <a:custGeom>
              <a:avLst/>
              <a:gdLst/>
              <a:ahLst/>
              <a:cxnLst/>
              <a:rect r="r" b="b" t="t" l="l"/>
              <a:pathLst>
                <a:path h="101600" w="8757920">
                  <a:moveTo>
                    <a:pt x="0" y="0"/>
                  </a:moveTo>
                  <a:lnTo>
                    <a:pt x="8757920" y="101600"/>
                  </a:lnTo>
                </a:path>
              </a:pathLst>
            </a:custGeom>
            <a:blipFill>
              <a:blip r:embed="rId4">
                <a:alphaModFix amt="0"/>
              </a:blip>
              <a:stretch>
                <a:fillRect l="0" t="-1629610" r="0" b="-1629610"/>
              </a:stretch>
            </a:blipFill>
            <a:ln w="76200" cap="sq">
              <a:solidFill>
                <a:srgbClr val="0F4662"/>
              </a:solidFill>
              <a:prstDash val="solid"/>
              <a:miter/>
            </a:ln>
          </p:spPr>
        </p:sp>
      </p:grpSp>
      <p:sp>
        <p:nvSpPr>
          <p:cNvPr name="Freeform 5" id="5"/>
          <p:cNvSpPr/>
          <p:nvPr/>
        </p:nvSpPr>
        <p:spPr>
          <a:xfrm flipH="false" flipV="false" rot="0">
            <a:off x="0" y="-470144"/>
            <a:ext cx="6158941" cy="10757144"/>
          </a:xfrm>
          <a:custGeom>
            <a:avLst/>
            <a:gdLst/>
            <a:ahLst/>
            <a:cxnLst/>
            <a:rect r="r" b="b" t="t" l="l"/>
            <a:pathLst>
              <a:path h="10757144" w="6158941">
                <a:moveTo>
                  <a:pt x="0" y="0"/>
                </a:moveTo>
                <a:lnTo>
                  <a:pt x="6158941" y="0"/>
                </a:lnTo>
                <a:lnTo>
                  <a:pt x="6158941" y="10757144"/>
                </a:lnTo>
                <a:lnTo>
                  <a:pt x="0" y="10757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90600" y="9703422"/>
            <a:ext cx="6568440" cy="76200"/>
            <a:chOff x="0" y="0"/>
            <a:chExt cx="8757920" cy="101600"/>
          </a:xfrm>
        </p:grpSpPr>
        <p:sp>
          <p:nvSpPr>
            <p:cNvPr name="Freeform 7" id="7"/>
            <p:cNvSpPr/>
            <p:nvPr/>
          </p:nvSpPr>
          <p:spPr>
            <a:xfrm flipH="false" flipV="false" rot="0">
              <a:off x="0" y="0"/>
              <a:ext cx="8757920" cy="101600"/>
            </a:xfrm>
            <a:custGeom>
              <a:avLst/>
              <a:gdLst/>
              <a:ahLst/>
              <a:cxnLst/>
              <a:rect r="r" b="b" t="t" l="l"/>
              <a:pathLst>
                <a:path h="101600" w="8757920">
                  <a:moveTo>
                    <a:pt x="0" y="0"/>
                  </a:moveTo>
                  <a:lnTo>
                    <a:pt x="8757920" y="101600"/>
                  </a:lnTo>
                </a:path>
              </a:pathLst>
            </a:custGeom>
            <a:blipFill>
              <a:blip r:embed="rId4">
                <a:alphaModFix amt="0"/>
              </a:blip>
              <a:stretch>
                <a:fillRect l="0" t="-1629610" r="0" b="-1629610"/>
              </a:stretch>
            </a:blipFill>
            <a:ln w="76200" cap="sq">
              <a:solidFill>
                <a:srgbClr val="0F4662"/>
              </a:solidFill>
              <a:prstDash val="solid"/>
              <a:miter/>
            </a:ln>
          </p:spPr>
        </p:sp>
      </p:grpSp>
      <p:grpSp>
        <p:nvGrpSpPr>
          <p:cNvPr name="Group 8" id="8"/>
          <p:cNvGrpSpPr/>
          <p:nvPr/>
        </p:nvGrpSpPr>
        <p:grpSpPr>
          <a:xfrm rot="0">
            <a:off x="2368382" y="1669075"/>
            <a:ext cx="13851217" cy="7635488"/>
            <a:chOff x="0" y="0"/>
            <a:chExt cx="18468289" cy="10180650"/>
          </a:xfrm>
        </p:grpSpPr>
        <p:sp>
          <p:nvSpPr>
            <p:cNvPr name="Freeform 9" id="9"/>
            <p:cNvSpPr/>
            <p:nvPr/>
          </p:nvSpPr>
          <p:spPr>
            <a:xfrm flipH="false" flipV="false" rot="0">
              <a:off x="0" y="0"/>
              <a:ext cx="18468339" cy="10180701"/>
            </a:xfrm>
            <a:custGeom>
              <a:avLst/>
              <a:gdLst/>
              <a:ahLst/>
              <a:cxnLst/>
              <a:rect r="r" b="b" t="t" l="l"/>
              <a:pathLst>
                <a:path h="10180701" w="18468339">
                  <a:moveTo>
                    <a:pt x="0" y="0"/>
                  </a:moveTo>
                  <a:lnTo>
                    <a:pt x="18468339" y="0"/>
                  </a:lnTo>
                  <a:lnTo>
                    <a:pt x="18468339" y="10180701"/>
                  </a:lnTo>
                  <a:lnTo>
                    <a:pt x="0" y="10180701"/>
                  </a:lnTo>
                  <a:lnTo>
                    <a:pt x="0" y="0"/>
                  </a:lnTo>
                  <a:close/>
                </a:path>
              </a:pathLst>
            </a:custGeom>
            <a:blipFill>
              <a:blip r:embed="rId5"/>
              <a:stretch>
                <a:fillRect l="0" t="-18" r="0" b="-18"/>
              </a:stretch>
            </a:blipFill>
          </p:spPr>
        </p:sp>
      </p:grpSp>
      <p:sp>
        <p:nvSpPr>
          <p:cNvPr name="TextBox 10" id="10"/>
          <p:cNvSpPr txBox="true"/>
          <p:nvPr/>
        </p:nvSpPr>
        <p:spPr>
          <a:xfrm rot="0">
            <a:off x="1028700" y="69571"/>
            <a:ext cx="9480747"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Proposed Solution Overview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103741" y="1514108"/>
            <a:ext cx="16325143" cy="8246699"/>
          </a:xfrm>
          <a:custGeom>
            <a:avLst/>
            <a:gdLst/>
            <a:ahLst/>
            <a:cxnLst/>
            <a:rect r="r" b="b" t="t" l="l"/>
            <a:pathLst>
              <a:path h="8246699" w="16325143">
                <a:moveTo>
                  <a:pt x="0" y="0"/>
                </a:moveTo>
                <a:lnTo>
                  <a:pt x="16325143" y="0"/>
                </a:lnTo>
                <a:lnTo>
                  <a:pt x="16325143" y="8246698"/>
                </a:lnTo>
                <a:lnTo>
                  <a:pt x="0" y="8246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03741" y="679938"/>
            <a:ext cx="9335367" cy="108511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System Architecture Overview</a:t>
            </a:r>
          </a:p>
        </p:txBody>
      </p:sp>
      <p:sp>
        <p:nvSpPr>
          <p:cNvPr name="TextBox 4" id="4"/>
          <p:cNvSpPr txBox="true"/>
          <p:nvPr/>
        </p:nvSpPr>
        <p:spPr>
          <a:xfrm rot="0">
            <a:off x="1304922" y="2105347"/>
            <a:ext cx="15678156" cy="1430082"/>
          </a:xfrm>
          <a:prstGeom prst="rect">
            <a:avLst/>
          </a:prstGeom>
        </p:spPr>
        <p:txBody>
          <a:bodyPr anchor="t" rtlCol="false" tIns="0" lIns="0" bIns="0" rIns="0">
            <a:spAutoFit/>
          </a:bodyPr>
          <a:lstStyle/>
          <a:p>
            <a:pPr algn="l">
              <a:lnSpc>
                <a:spcPts val="5710"/>
              </a:lnSpc>
            </a:pPr>
            <a:r>
              <a:rPr lang="en-US" sz="4079" b="true">
                <a:solidFill>
                  <a:srgbClr val="0F4662"/>
                </a:solidFill>
                <a:latin typeface="Cormorant Garamond Bold"/>
                <a:ea typeface="Cormorant Garamond Bold"/>
                <a:cs typeface="Cormorant Garamond Bold"/>
                <a:sym typeface="Cormorant Garamond Bold"/>
              </a:rPr>
              <a:t>Eat2Beat is a food donation platform that connects users, restaurants, and charities through a centralized Cloudflare Worker API Gateway.</a:t>
            </a:r>
          </a:p>
        </p:txBody>
      </p:sp>
      <p:sp>
        <p:nvSpPr>
          <p:cNvPr name="TextBox 5" id="5"/>
          <p:cNvSpPr txBox="true"/>
          <p:nvPr/>
        </p:nvSpPr>
        <p:spPr>
          <a:xfrm rot="0">
            <a:off x="1474506" y="3761832"/>
            <a:ext cx="15954378" cy="5496468"/>
          </a:xfrm>
          <a:prstGeom prst="rect">
            <a:avLst/>
          </a:prstGeom>
        </p:spPr>
        <p:txBody>
          <a:bodyPr anchor="t" rtlCol="false" tIns="0" lIns="0" bIns="0" rIns="0">
            <a:spAutoFit/>
          </a:bodyPr>
          <a:lstStyle/>
          <a:p>
            <a:pPr algn="l">
              <a:lnSpc>
                <a:spcPts val="3340"/>
              </a:lnSpc>
            </a:pPr>
            <a:r>
              <a:rPr lang="en-US" sz="2387" b="true">
                <a:solidFill>
                  <a:srgbClr val="0F4662"/>
                </a:solidFill>
                <a:latin typeface="Cormorant Garamond Bold"/>
                <a:ea typeface="Cormorant Garamond Bold"/>
                <a:cs typeface="Cormorant Garamond Bold"/>
                <a:sym typeface="Cormorant Garamond Bold"/>
              </a:rPr>
              <a:t>The g</a:t>
            </a:r>
            <a:r>
              <a:rPr lang="en-US" sz="2387" b="true">
                <a:solidFill>
                  <a:srgbClr val="0F4662"/>
                </a:solidFill>
                <a:latin typeface="Cormorant Garamond Bold"/>
                <a:ea typeface="Cormorant Garamond Bold"/>
                <a:cs typeface="Cormorant Garamond Bold"/>
                <a:sym typeface="Cormorant Garamond Bold"/>
              </a:rPr>
              <a:t>ateway handles:</a:t>
            </a:r>
          </a:p>
          <a:p>
            <a:pPr algn="l">
              <a:lnSpc>
                <a:spcPts val="3340"/>
              </a:lnSpc>
            </a:pP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Authentication and role management using Firebase.</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Business logic and data management through Supabase.</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Image storage using Cloudflare R2.</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Processing meal donations and restaurant offers.</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Integration with AI services for recommendations, deep search, and demand prediction, hosted on Google Cloud Run.</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Main Workflow</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Restaurants create meal donations or special offers.</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Users and charities browse available meals and offers.</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Requests are processed through the Cloudflare Worker.</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Data and images are stored in cloud services.</a:t>
            </a:r>
          </a:p>
          <a:p>
            <a:pPr algn="l" marL="515529" indent="-257765" lvl="1">
              <a:lnSpc>
                <a:spcPts val="3340"/>
              </a:lnSpc>
              <a:buFont typeface="Arial"/>
              <a:buChar char="•"/>
            </a:pPr>
            <a:r>
              <a:rPr lang="en-US" b="true" sz="2387">
                <a:solidFill>
                  <a:srgbClr val="0F4662"/>
                </a:solidFill>
                <a:latin typeface="Cormorant Garamond Bold"/>
                <a:ea typeface="Cormorant Garamond Bold"/>
                <a:cs typeface="Cormorant Garamond Bold"/>
                <a:sym typeface="Cormorant Garamond Bold"/>
              </a:rPr>
              <a:t>AI services enhance search, recommendations, and demand forecasting.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2317542" y="2361486"/>
            <a:ext cx="13652916" cy="6896814"/>
          </a:xfrm>
          <a:custGeom>
            <a:avLst/>
            <a:gdLst/>
            <a:ahLst/>
            <a:cxnLst/>
            <a:rect r="r" b="b" t="t" l="l"/>
            <a:pathLst>
              <a:path h="6896814" w="13652916">
                <a:moveTo>
                  <a:pt x="0" y="0"/>
                </a:moveTo>
                <a:lnTo>
                  <a:pt x="13652916" y="0"/>
                </a:lnTo>
                <a:lnTo>
                  <a:pt x="13652916"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762000"/>
            <a:ext cx="9335367" cy="108511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Chatbot Deep Search Overview</a:t>
            </a:r>
          </a:p>
        </p:txBody>
      </p:sp>
      <p:sp>
        <p:nvSpPr>
          <p:cNvPr name="TextBox 4" id="4"/>
          <p:cNvSpPr txBox="true"/>
          <p:nvPr/>
        </p:nvSpPr>
        <p:spPr>
          <a:xfrm rot="0">
            <a:off x="2582870" y="3066725"/>
            <a:ext cx="11326989" cy="5791873"/>
          </a:xfrm>
          <a:prstGeom prst="rect">
            <a:avLst/>
          </a:prstGeom>
        </p:spPr>
        <p:txBody>
          <a:bodyPr anchor="t" rtlCol="false" tIns="0" lIns="0" bIns="0" rIns="0">
            <a:spAutoFit/>
          </a:bodyPr>
          <a:lstStyle/>
          <a:p>
            <a:pPr algn="l">
              <a:lnSpc>
                <a:spcPts val="4228"/>
              </a:lnSpc>
            </a:pPr>
            <a:r>
              <a:rPr lang="en-US" sz="3022" b="true">
                <a:solidFill>
                  <a:srgbClr val="0F4662"/>
                </a:solidFill>
                <a:latin typeface="Cormorant Garamond Bold"/>
                <a:ea typeface="Cormorant Garamond Bold"/>
                <a:cs typeface="Cormorant Garamond Bold"/>
                <a:sym typeface="Cormorant Garamond Bold"/>
              </a:rPr>
              <a:t>Th</a:t>
            </a:r>
            <a:r>
              <a:rPr lang="en-US" sz="3022" b="true">
                <a:solidFill>
                  <a:srgbClr val="0F4662"/>
                </a:solidFill>
                <a:latin typeface="Cormorant Garamond Bold"/>
                <a:ea typeface="Cormorant Garamond Bold"/>
                <a:cs typeface="Cormorant Garamond Bold"/>
                <a:sym typeface="Cormorant Garamond Bold"/>
              </a:rPr>
              <a:t>e chatbot deep search helps users find food even if they do not know the exact dish name. The chatbot first understands user intent and may ask a simple clarifying question. After that, the deep search module runs using the final query and returns relevant meals or offers.</a:t>
            </a:r>
          </a:p>
          <a:p>
            <a:pPr algn="l">
              <a:lnSpc>
                <a:spcPts val="4088"/>
              </a:lnSpc>
            </a:pPr>
          </a:p>
          <a:p>
            <a:pPr algn="l">
              <a:lnSpc>
                <a:spcPts val="4648"/>
              </a:lnSpc>
            </a:pPr>
            <a:r>
              <a:rPr lang="en-US" sz="3322" b="true">
                <a:solidFill>
                  <a:srgbClr val="0F4662"/>
                </a:solidFill>
                <a:latin typeface="Cormorant Garamond Bold"/>
                <a:ea typeface="Cormorant Garamond Bold"/>
                <a:cs typeface="Cormorant Garamond Bold"/>
                <a:sym typeface="Cormorant Garamond Bold"/>
              </a:rPr>
              <a:t>Main capabilities:</a:t>
            </a:r>
          </a:p>
          <a:p>
            <a:pPr algn="l">
              <a:lnSpc>
                <a:spcPts val="4088"/>
              </a:lnSpc>
            </a:pPr>
            <a:r>
              <a:rPr lang="en-US" sz="2922" b="true">
                <a:solidFill>
                  <a:srgbClr val="0F4662"/>
                </a:solidFill>
                <a:latin typeface="Cormorant Garamond Bold"/>
                <a:ea typeface="Cormorant Garamond Bold"/>
                <a:cs typeface="Cormorant Garamond Bold"/>
                <a:sym typeface="Cormorant Garamond Bold"/>
              </a:rPr>
              <a:t>- understands vague food requests</a:t>
            </a:r>
          </a:p>
          <a:p>
            <a:pPr algn="l">
              <a:lnSpc>
                <a:spcPts val="4088"/>
              </a:lnSpc>
            </a:pPr>
            <a:r>
              <a:rPr lang="en-US" sz="2922" b="true">
                <a:solidFill>
                  <a:srgbClr val="0F4662"/>
                </a:solidFill>
                <a:latin typeface="Cormorant Garamond Bold"/>
                <a:ea typeface="Cormorant Garamond Bold"/>
                <a:cs typeface="Cormorant Garamond Bold"/>
                <a:sym typeface="Cormorant Garamond Bold"/>
              </a:rPr>
              <a:t>- supports cuisine, category, and tag preferences</a:t>
            </a:r>
          </a:p>
          <a:p>
            <a:pPr algn="l">
              <a:lnSpc>
                <a:spcPts val="4088"/>
              </a:lnSpc>
            </a:pPr>
            <a:r>
              <a:rPr lang="en-US" sz="2922" b="true">
                <a:solidFill>
                  <a:srgbClr val="0F4662"/>
                </a:solidFill>
                <a:latin typeface="Cormorant Garamond Bold"/>
                <a:ea typeface="Cormorant Garamond Bold"/>
                <a:cs typeface="Cormorant Garamond Bold"/>
                <a:sym typeface="Cormorant Garamond Bold"/>
              </a:rPr>
              <a:t>- supports meals and offers</a:t>
            </a:r>
          </a:p>
          <a:p>
            <a:pPr algn="l">
              <a:lnSpc>
                <a:spcPts val="4088"/>
              </a:lnSpc>
            </a:pPr>
            <a:r>
              <a:rPr lang="en-US" sz="2922" b="true">
                <a:solidFill>
                  <a:srgbClr val="0F4662"/>
                </a:solidFill>
                <a:latin typeface="Cormorant Garamond Bold"/>
                <a:ea typeface="Cormorant Garamond Bold"/>
                <a:cs typeface="Cormorant Garamond Bold"/>
                <a:sym typeface="Cormorant Garamond Bold"/>
              </a:rPr>
              <a:t>- shows only currently orderable results</a:t>
            </a:r>
          </a:p>
          <a:p>
            <a:pPr algn="l">
              <a:lnSpc>
                <a:spcPts val="4091"/>
              </a:lnSpc>
            </a:pPr>
            <a:r>
              <a:rPr lang="en-US" sz="2922" b="true">
                <a:solidFill>
                  <a:srgbClr val="0F4662"/>
                </a:solidFill>
                <a:latin typeface="Cormorant Garamond Bold"/>
                <a:ea typeface="Cormorant Garamond Bold"/>
                <a:cs typeface="Cormorant Garamond Bold"/>
                <a:sym typeface="Cormorant Garamond Bold"/>
              </a:rPr>
              <a:t>- avoids duplicate meal + offer display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498536" y="1669253"/>
            <a:ext cx="6442877" cy="8250509"/>
          </a:xfrm>
          <a:custGeom>
            <a:avLst/>
            <a:gdLst/>
            <a:ahLst/>
            <a:cxnLst/>
            <a:rect r="r" b="b" t="t" l="l"/>
            <a:pathLst>
              <a:path h="8250509" w="6442877">
                <a:moveTo>
                  <a:pt x="0" y="0"/>
                </a:moveTo>
                <a:lnTo>
                  <a:pt x="6442877" y="0"/>
                </a:lnTo>
                <a:lnTo>
                  <a:pt x="6442877" y="8250508"/>
                </a:lnTo>
                <a:lnTo>
                  <a:pt x="0" y="8250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662344" y="1554598"/>
            <a:ext cx="6532411" cy="8365163"/>
          </a:xfrm>
          <a:custGeom>
            <a:avLst/>
            <a:gdLst/>
            <a:ahLst/>
            <a:cxnLst/>
            <a:rect r="r" b="b" t="t" l="l"/>
            <a:pathLst>
              <a:path h="8365163" w="6532411">
                <a:moveTo>
                  <a:pt x="0" y="0"/>
                </a:moveTo>
                <a:lnTo>
                  <a:pt x="6532411" y="0"/>
                </a:lnTo>
                <a:lnTo>
                  <a:pt x="6532411" y="8365163"/>
                </a:lnTo>
                <a:lnTo>
                  <a:pt x="0" y="83651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14774" y="249955"/>
            <a:ext cx="10515495" cy="1836906"/>
          </a:xfrm>
          <a:prstGeom prst="rect">
            <a:avLst/>
          </a:prstGeom>
        </p:spPr>
        <p:txBody>
          <a:bodyPr anchor="t" rtlCol="false" tIns="0" lIns="0" bIns="0" rIns="0">
            <a:spAutoFit/>
          </a:bodyPr>
          <a:lstStyle/>
          <a:p>
            <a:pPr algn="l">
              <a:lnSpc>
                <a:spcPts val="7420"/>
              </a:lnSpc>
            </a:pPr>
            <a:r>
              <a:rPr lang="en-US" b="true" sz="5299" i="true">
                <a:solidFill>
                  <a:srgbClr val="0F4662"/>
                </a:solidFill>
                <a:latin typeface="Cormorant Garamond Bold Italics"/>
                <a:ea typeface="Cormorant Garamond Bold Italics"/>
                <a:cs typeface="Cormorant Garamond Bold Italics"/>
                <a:sym typeface="Cormorant Garamond Bold Italics"/>
              </a:rPr>
              <a:t>Machine Learning Methodology</a:t>
            </a:r>
          </a:p>
          <a:p>
            <a:pPr algn="l">
              <a:lnSpc>
                <a:spcPts val="7420"/>
              </a:lnSpc>
            </a:pPr>
            <a:r>
              <a:rPr lang="en-US" b="true" sz="5299" i="true">
                <a:solidFill>
                  <a:srgbClr val="0F4662"/>
                </a:solidFill>
                <a:latin typeface="Cormorant Garamond Bold Italics"/>
                <a:ea typeface="Cormorant Garamond Bold Italics"/>
                <a:cs typeface="Cormorant Garamond Bold Italics"/>
                <a:sym typeface="Cormorant Garamond Bold Italics"/>
              </a:rPr>
              <a:t>(Chatbot)</a:t>
            </a:r>
          </a:p>
        </p:txBody>
      </p:sp>
      <p:sp>
        <p:nvSpPr>
          <p:cNvPr name="TextBox 5" id="5"/>
          <p:cNvSpPr txBox="true"/>
          <p:nvPr/>
        </p:nvSpPr>
        <p:spPr>
          <a:xfrm rot="0">
            <a:off x="1939172" y="2480294"/>
            <a:ext cx="5385759" cy="6602160"/>
          </a:xfrm>
          <a:prstGeom prst="rect">
            <a:avLst/>
          </a:prstGeom>
        </p:spPr>
        <p:txBody>
          <a:bodyPr anchor="t" rtlCol="false" tIns="0" lIns="0" bIns="0" rIns="0">
            <a:spAutoFit/>
          </a:bodyPr>
          <a:lstStyle/>
          <a:p>
            <a:pPr algn="ctr">
              <a:lnSpc>
                <a:spcPts val="5036"/>
              </a:lnSpc>
            </a:pPr>
            <a:r>
              <a:rPr lang="en-US" sz="3600" b="true">
                <a:solidFill>
                  <a:srgbClr val="0F4662"/>
                </a:solidFill>
                <a:latin typeface="Amiri Bold"/>
                <a:ea typeface="Amiri Bold"/>
                <a:cs typeface="Amiri Bold"/>
                <a:sym typeface="Amiri Bold"/>
              </a:rPr>
              <a:t>The current</a:t>
            </a:r>
            <a:r>
              <a:rPr lang="en-US" sz="3600" b="true">
                <a:solidFill>
                  <a:srgbClr val="0F4662"/>
                </a:solidFill>
                <a:latin typeface="Amiri Bold"/>
                <a:ea typeface="Amiri Bold"/>
                <a:cs typeface="Amiri Bold"/>
                <a:sym typeface="Amiri Bold"/>
              </a:rPr>
              <a:t> chatbot deep search uses:</a:t>
            </a:r>
          </a:p>
          <a:p>
            <a:pPr algn="ctr">
              <a:lnSpc>
                <a:spcPts val="4223"/>
              </a:lnSpc>
            </a:pPr>
            <a:r>
              <a:rPr lang="en-US" sz="3018" b="true">
                <a:solidFill>
                  <a:srgbClr val="0F4662"/>
                </a:solidFill>
                <a:latin typeface="Amiri Bold"/>
                <a:ea typeface="Amiri Bold"/>
                <a:cs typeface="Amiri Bold"/>
                <a:sym typeface="Amiri Bold"/>
              </a:rPr>
              <a:t>- GPT-4o for conversation and query generation</a:t>
            </a:r>
          </a:p>
          <a:p>
            <a:pPr algn="ctr">
              <a:lnSpc>
                <a:spcPts val="4226"/>
              </a:lnSpc>
            </a:pPr>
            <a:r>
              <a:rPr lang="en-US" sz="3019" b="true">
                <a:solidFill>
                  <a:srgbClr val="0F4662"/>
                </a:solidFill>
                <a:latin typeface="Amiri Bold"/>
                <a:ea typeface="Amiri Bold"/>
                <a:cs typeface="Amiri Bold"/>
                <a:sym typeface="Amiri Bold"/>
              </a:rPr>
              <a:t>- SentenceTransformer (</a:t>
            </a:r>
            <a:r>
              <a:rPr lang="en-US" sz="3019" b="true">
                <a:solidFill>
                  <a:srgbClr val="0F4662"/>
                </a:solidFill>
                <a:latin typeface="Amiri Bold"/>
                <a:ea typeface="Amiri Bold"/>
                <a:cs typeface="Amiri Bold"/>
                <a:sym typeface="Amiri Bold"/>
              </a:rPr>
              <a:t>paraphrase-multilingual-MiniLM-L12-v2) for semantic similarity</a:t>
            </a:r>
          </a:p>
          <a:p>
            <a:pPr algn="ctr">
              <a:lnSpc>
                <a:spcPts val="4223"/>
              </a:lnSpc>
            </a:pPr>
            <a:r>
              <a:rPr lang="en-US" sz="3018" b="true">
                <a:solidFill>
                  <a:srgbClr val="0F4662"/>
                </a:solidFill>
                <a:latin typeface="Amiri Bold"/>
                <a:ea typeface="Amiri Bold"/>
                <a:cs typeface="Amiri Bold"/>
                <a:sym typeface="Amiri Bold"/>
              </a:rPr>
              <a:t>- Supabase as the live data source</a:t>
            </a:r>
          </a:p>
          <a:p>
            <a:pPr algn="ctr" marL="690173" indent="-230058" lvl="2">
              <a:lnSpc>
                <a:spcPts val="4226"/>
              </a:lnSpc>
            </a:pPr>
            <a:r>
              <a:rPr lang="en-US" b="true" sz="3019">
                <a:solidFill>
                  <a:srgbClr val="0F4662"/>
                </a:solidFill>
                <a:latin typeface="Amiri Bold"/>
                <a:ea typeface="Amiri Bold"/>
                <a:cs typeface="Amiri Bold"/>
                <a:sym typeface="Amiri Bold"/>
              </a:rPr>
              <a:t>- custom ranking logic for final ordering</a:t>
            </a:r>
          </a:p>
        </p:txBody>
      </p:sp>
      <p:sp>
        <p:nvSpPr>
          <p:cNvPr name="TextBox 6" id="6"/>
          <p:cNvSpPr txBox="true"/>
          <p:nvPr/>
        </p:nvSpPr>
        <p:spPr>
          <a:xfrm rot="0">
            <a:off x="9935165" y="2392371"/>
            <a:ext cx="6259590" cy="7144917"/>
          </a:xfrm>
          <a:prstGeom prst="rect">
            <a:avLst/>
          </a:prstGeom>
        </p:spPr>
        <p:txBody>
          <a:bodyPr anchor="t" rtlCol="false" tIns="0" lIns="0" bIns="0" rIns="0">
            <a:spAutoFit/>
          </a:bodyPr>
          <a:lstStyle/>
          <a:p>
            <a:pPr algn="l">
              <a:lnSpc>
                <a:spcPts val="5040"/>
              </a:lnSpc>
            </a:pPr>
            <a:r>
              <a:rPr lang="en-US" sz="3600" b="true">
                <a:solidFill>
                  <a:srgbClr val="0F4662"/>
                </a:solidFill>
                <a:latin typeface="Amiri Bold"/>
                <a:ea typeface="Amiri Bold"/>
                <a:cs typeface="Amiri Bold"/>
                <a:sym typeface="Amiri Bold"/>
              </a:rPr>
              <a:t>Pip</a:t>
            </a:r>
            <a:r>
              <a:rPr lang="en-US" sz="3600" b="true">
                <a:solidFill>
                  <a:srgbClr val="0F4662"/>
                </a:solidFill>
                <a:latin typeface="Amiri Bold"/>
                <a:ea typeface="Amiri Bold"/>
                <a:cs typeface="Amiri Bold"/>
                <a:sym typeface="Amiri Bold"/>
              </a:rPr>
              <a:t>eline:</a:t>
            </a:r>
          </a:p>
          <a:p>
            <a:pPr algn="l">
              <a:lnSpc>
                <a:spcPts val="4289"/>
              </a:lnSpc>
            </a:pPr>
          </a:p>
          <a:p>
            <a:pPr algn="l">
              <a:lnSpc>
                <a:spcPts val="4289"/>
              </a:lnSpc>
            </a:pPr>
            <a:r>
              <a:rPr lang="en-US" sz="3063" b="true">
                <a:solidFill>
                  <a:srgbClr val="0F4662"/>
                </a:solidFill>
                <a:latin typeface="Amiri Bold"/>
                <a:ea typeface="Amiri Bold"/>
                <a:cs typeface="Amiri Bold"/>
                <a:sym typeface="Amiri Bold"/>
              </a:rPr>
              <a:t>1. user</a:t>
            </a:r>
            <a:r>
              <a:rPr lang="en-US" sz="3063" b="true">
                <a:solidFill>
                  <a:srgbClr val="0F4662"/>
                </a:solidFill>
                <a:latin typeface="Amiri Bold"/>
                <a:ea typeface="Amiri Bold"/>
                <a:cs typeface="Amiri Bold"/>
                <a:sym typeface="Amiri Bold"/>
              </a:rPr>
              <a:t> talks to chatbot</a:t>
            </a:r>
          </a:p>
          <a:p>
            <a:pPr algn="l">
              <a:lnSpc>
                <a:spcPts val="4289"/>
              </a:lnSpc>
            </a:pPr>
            <a:r>
              <a:rPr lang="en-US" sz="3063" b="true">
                <a:solidFill>
                  <a:srgbClr val="0F4662"/>
                </a:solidFill>
                <a:latin typeface="Amiri Bold"/>
                <a:ea typeface="Amiri Bold"/>
                <a:cs typeface="Amiri Bold"/>
                <a:sym typeface="Amiri Bold"/>
              </a:rPr>
              <a:t>2. chatbot may ask a clarifying question</a:t>
            </a:r>
          </a:p>
          <a:p>
            <a:pPr algn="l">
              <a:lnSpc>
                <a:spcPts val="4289"/>
              </a:lnSpc>
            </a:pPr>
            <a:r>
              <a:rPr lang="en-US" sz="3063" b="true">
                <a:solidFill>
                  <a:srgbClr val="0F4662"/>
                </a:solidFill>
                <a:latin typeface="Amiri Bold"/>
                <a:ea typeface="Amiri Bold"/>
                <a:cs typeface="Amiri Bold"/>
                <a:sym typeface="Amiri Bold"/>
              </a:rPr>
              <a:t>3. chatbot creates the final search query</a:t>
            </a:r>
          </a:p>
          <a:p>
            <a:pPr algn="l">
              <a:lnSpc>
                <a:spcPts val="4289"/>
              </a:lnSpc>
            </a:pPr>
            <a:r>
              <a:rPr lang="en-US" sz="3063" b="true">
                <a:solidFill>
                  <a:srgbClr val="0F4662"/>
                </a:solidFill>
                <a:latin typeface="Amiri Bold"/>
                <a:ea typeface="Amiri Bold"/>
                <a:cs typeface="Amiri Bold"/>
                <a:sym typeface="Amiri Bold"/>
              </a:rPr>
              <a:t>4. deep search starts after that</a:t>
            </a:r>
          </a:p>
          <a:p>
            <a:pPr algn="l">
              <a:lnSpc>
                <a:spcPts val="4289"/>
              </a:lnSpc>
            </a:pPr>
            <a:r>
              <a:rPr lang="en-US" sz="3063" b="true">
                <a:solidFill>
                  <a:srgbClr val="0F4662"/>
                </a:solidFill>
                <a:latin typeface="Amiri Bold"/>
                <a:ea typeface="Amiri Bold"/>
                <a:cs typeface="Amiri Bold"/>
                <a:sym typeface="Amiri Bold"/>
              </a:rPr>
              <a:t>5. deep search fetches live meals and offers from Supabase</a:t>
            </a:r>
          </a:p>
          <a:p>
            <a:pPr algn="l">
              <a:lnSpc>
                <a:spcPts val="4289"/>
              </a:lnSpc>
            </a:pPr>
            <a:r>
              <a:rPr lang="en-US" sz="3063" b="true">
                <a:solidFill>
                  <a:srgbClr val="0F4662"/>
                </a:solidFill>
                <a:latin typeface="Amiri Bold"/>
                <a:ea typeface="Amiri Bold"/>
                <a:cs typeface="Amiri Bold"/>
                <a:sym typeface="Amiri Bold"/>
              </a:rPr>
              <a:t>6. semantic matching is applied</a:t>
            </a:r>
          </a:p>
          <a:p>
            <a:pPr algn="l">
              <a:lnSpc>
                <a:spcPts val="4289"/>
              </a:lnSpc>
            </a:pPr>
            <a:r>
              <a:rPr lang="en-US" sz="3063" b="true">
                <a:solidFill>
                  <a:srgbClr val="0F4662"/>
                </a:solidFill>
                <a:latin typeface="Amiri Bold"/>
                <a:ea typeface="Amiri Bold"/>
                <a:cs typeface="Amiri Bold"/>
                <a:sym typeface="Amiri Bold"/>
              </a:rPr>
              <a:t>7</a:t>
            </a:r>
            <a:r>
              <a:rPr lang="en-US" sz="3063" b="true">
                <a:solidFill>
                  <a:srgbClr val="0F4662"/>
                </a:solidFill>
                <a:latin typeface="Amiri Bold"/>
                <a:ea typeface="Amiri Bold"/>
                <a:cs typeface="Amiri Bold"/>
                <a:sym typeface="Amiri Bold"/>
              </a:rPr>
              <a:t>. ranking and filtering are applied before showing results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92500" y="109699"/>
            <a:ext cx="11537528" cy="1310640"/>
          </a:xfrm>
          <a:prstGeom prst="rect">
            <a:avLst/>
          </a:prstGeom>
        </p:spPr>
        <p:txBody>
          <a:bodyPr anchor="t" rtlCol="false" tIns="0" lIns="0" bIns="0" rIns="0">
            <a:spAutoFit/>
          </a:bodyPr>
          <a:lstStyle/>
          <a:p>
            <a:pPr algn="l">
              <a:lnSpc>
                <a:spcPts val="9658"/>
              </a:lnSpc>
            </a:pPr>
            <a:r>
              <a:rPr lang="en-US" b="true" sz="6898" i="true">
                <a:solidFill>
                  <a:srgbClr val="0F4662"/>
                </a:solidFill>
                <a:latin typeface="Cormorant Garamond Bold Italics"/>
                <a:ea typeface="Cormorant Garamond Bold Italics"/>
                <a:cs typeface="Cormorant Garamond Bold Italics"/>
                <a:sym typeface="Cormorant Garamond Bold Italics"/>
              </a:rPr>
              <a:t>Evaluation Metrics </a:t>
            </a:r>
          </a:p>
        </p:txBody>
      </p:sp>
      <p:sp>
        <p:nvSpPr>
          <p:cNvPr name="Freeform 3" id="3"/>
          <p:cNvSpPr/>
          <p:nvPr/>
        </p:nvSpPr>
        <p:spPr>
          <a:xfrm flipH="false" flipV="false" rot="0">
            <a:off x="1962960" y="1460021"/>
            <a:ext cx="14362081" cy="6896814"/>
          </a:xfrm>
          <a:custGeom>
            <a:avLst/>
            <a:gdLst/>
            <a:ahLst/>
            <a:cxnLst/>
            <a:rect r="r" b="b" t="t" l="l"/>
            <a:pathLst>
              <a:path h="6896814" w="14362081">
                <a:moveTo>
                  <a:pt x="0" y="0"/>
                </a:moveTo>
                <a:lnTo>
                  <a:pt x="14362080" y="0"/>
                </a:lnTo>
                <a:lnTo>
                  <a:pt x="14362080"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962960" y="2198077"/>
            <a:ext cx="14362081" cy="2428417"/>
          </a:xfrm>
          <a:prstGeom prst="rect">
            <a:avLst/>
          </a:prstGeom>
        </p:spPr>
        <p:txBody>
          <a:bodyPr anchor="t" rtlCol="false" tIns="0" lIns="0" bIns="0" rIns="0">
            <a:spAutoFit/>
          </a:bodyPr>
          <a:lstStyle/>
          <a:p>
            <a:pPr algn="ctr">
              <a:lnSpc>
                <a:spcPts val="4827"/>
              </a:lnSpc>
            </a:pPr>
            <a:r>
              <a:rPr lang="en-US" sz="3448" b="true">
                <a:solidFill>
                  <a:srgbClr val="0F4662"/>
                </a:solidFill>
                <a:latin typeface="Amiri Bold"/>
                <a:ea typeface="Amiri Bold"/>
                <a:cs typeface="Amiri Bold"/>
                <a:sym typeface="Amiri Bold"/>
              </a:rPr>
              <a:t>Results are n</a:t>
            </a:r>
            <a:r>
              <a:rPr lang="en-US" sz="3448" b="true">
                <a:solidFill>
                  <a:srgbClr val="0F4662"/>
                </a:solidFill>
                <a:latin typeface="Amiri Bold"/>
                <a:ea typeface="Amiri Bold"/>
                <a:cs typeface="Amiri Bold"/>
                <a:sym typeface="Amiri Bold"/>
              </a:rPr>
              <a:t>ot ranked by one fixed threshold only. The system combines: semantic similarity - keyword match- taxonomy match </a:t>
            </a:r>
          </a:p>
          <a:p>
            <a:pPr algn="ctr">
              <a:lnSpc>
                <a:spcPts val="4827"/>
              </a:lnSpc>
            </a:pPr>
            <a:r>
              <a:rPr lang="en-US" sz="3448" b="true">
                <a:solidFill>
                  <a:srgbClr val="0F4662"/>
                </a:solidFill>
                <a:latin typeface="Amiri Bold"/>
                <a:ea typeface="Amiri Bold"/>
                <a:cs typeface="Amiri Bold"/>
                <a:sym typeface="Amiri Bold"/>
              </a:rPr>
              <a:t>- quality score from rating and rating count - offer/value intent when relevant - restaurant orderability</a:t>
            </a:r>
          </a:p>
        </p:txBody>
      </p:sp>
      <p:sp>
        <p:nvSpPr>
          <p:cNvPr name="TextBox 5" id="5"/>
          <p:cNvSpPr txBox="true"/>
          <p:nvPr/>
        </p:nvSpPr>
        <p:spPr>
          <a:xfrm rot="0">
            <a:off x="1962960" y="5067300"/>
            <a:ext cx="14362081" cy="3161928"/>
          </a:xfrm>
          <a:prstGeom prst="rect">
            <a:avLst/>
          </a:prstGeom>
        </p:spPr>
        <p:txBody>
          <a:bodyPr anchor="t" rtlCol="false" tIns="0" lIns="0" bIns="0" rIns="0">
            <a:spAutoFit/>
          </a:bodyPr>
          <a:lstStyle/>
          <a:p>
            <a:pPr algn="ctr">
              <a:lnSpc>
                <a:spcPts val="5599"/>
              </a:lnSpc>
            </a:pPr>
            <a:r>
              <a:rPr lang="en-US" sz="3999" b="true">
                <a:solidFill>
                  <a:srgbClr val="0F4662"/>
                </a:solidFill>
                <a:latin typeface="Amiri Bold"/>
                <a:ea typeface="Amiri Bold"/>
                <a:cs typeface="Amiri Bold"/>
                <a:sym typeface="Amiri Bold"/>
              </a:rPr>
              <a:t>F</a:t>
            </a:r>
            <a:r>
              <a:rPr lang="en-US" sz="3999" b="true">
                <a:solidFill>
                  <a:srgbClr val="0F4662"/>
                </a:solidFill>
                <a:latin typeface="Amiri Bold"/>
                <a:ea typeface="Amiri Bold"/>
                <a:cs typeface="Amiri Bold"/>
                <a:sym typeface="Amiri Bold"/>
              </a:rPr>
              <a:t>inal behavior:</a:t>
            </a:r>
          </a:p>
          <a:p>
            <a:pPr algn="ctr">
              <a:lnSpc>
                <a:spcPts val="4900"/>
              </a:lnSpc>
            </a:pPr>
            <a:r>
              <a:rPr lang="en-US" sz="3500" b="true">
                <a:solidFill>
                  <a:srgbClr val="0F4662"/>
                </a:solidFill>
                <a:latin typeface="Amiri Bold"/>
                <a:ea typeface="Amiri Bold"/>
                <a:cs typeface="Amiri Bold"/>
                <a:sym typeface="Amiri Bold"/>
              </a:rPr>
              <a:t>- normal queries return the most relevant meals first</a:t>
            </a:r>
          </a:p>
          <a:p>
            <a:pPr algn="ctr">
              <a:lnSpc>
                <a:spcPts val="4900"/>
              </a:lnSpc>
            </a:pPr>
            <a:r>
              <a:rPr lang="en-US" sz="3500" b="true">
                <a:solidFill>
                  <a:srgbClr val="0F4662"/>
                </a:solidFill>
                <a:latin typeface="Amiri Bold"/>
                <a:ea typeface="Amiri Bold"/>
                <a:cs typeface="Amiri Bold"/>
                <a:sym typeface="Amiri Bold"/>
              </a:rPr>
              <a:t>- deal/cheap queries can promote offers</a:t>
            </a:r>
          </a:p>
          <a:p>
            <a:pPr algn="ctr">
              <a:lnSpc>
                <a:spcPts val="4900"/>
              </a:lnSpc>
            </a:pPr>
            <a:r>
              <a:rPr lang="en-US" sz="3500" b="true">
                <a:solidFill>
                  <a:srgbClr val="0F4662"/>
                </a:solidFill>
                <a:latin typeface="Amiri Bold"/>
                <a:ea typeface="Amiri Bold"/>
                <a:cs typeface="Amiri Bold"/>
                <a:sym typeface="Amiri Bold"/>
              </a:rPr>
              <a:t>- if a meal has an active offer, the offer is shown instead</a:t>
            </a:r>
          </a:p>
          <a:p>
            <a:pPr algn="ctr">
              <a:lnSpc>
                <a:spcPts val="4900"/>
              </a:lnSpc>
            </a:pPr>
            <a:r>
              <a:rPr lang="en-US" sz="3500" b="true">
                <a:solidFill>
                  <a:srgbClr val="0F4662"/>
                </a:solidFill>
                <a:latin typeface="Amiri Bold"/>
                <a:ea typeface="Amiri Bold"/>
                <a:cs typeface="Amiri Bold"/>
                <a:sym typeface="Amiri Bold"/>
              </a:rPr>
              <a:t>- non-orderable items are removed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2317547" y="2361486"/>
            <a:ext cx="13652916" cy="6896814"/>
          </a:xfrm>
          <a:custGeom>
            <a:avLst/>
            <a:gdLst/>
            <a:ahLst/>
            <a:cxnLst/>
            <a:rect r="r" b="b" t="t" l="l"/>
            <a:pathLst>
              <a:path h="6896814" w="13652916">
                <a:moveTo>
                  <a:pt x="0" y="0"/>
                </a:moveTo>
                <a:lnTo>
                  <a:pt x="13652916" y="0"/>
                </a:lnTo>
                <a:lnTo>
                  <a:pt x="13652916"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622983"/>
            <a:ext cx="11282410" cy="1085190"/>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Recommendation system Description</a:t>
            </a:r>
          </a:p>
        </p:txBody>
      </p:sp>
      <p:sp>
        <p:nvSpPr>
          <p:cNvPr name="TextBox 4" id="4"/>
          <p:cNvSpPr txBox="true"/>
          <p:nvPr/>
        </p:nvSpPr>
        <p:spPr>
          <a:xfrm rot="0">
            <a:off x="3154518" y="3059678"/>
            <a:ext cx="11978964" cy="5682844"/>
          </a:xfrm>
          <a:prstGeom prst="rect">
            <a:avLst/>
          </a:prstGeom>
        </p:spPr>
        <p:txBody>
          <a:bodyPr anchor="t" rtlCol="false" tIns="0" lIns="0" bIns="0" rIns="0">
            <a:spAutoFit/>
          </a:bodyPr>
          <a:lstStyle/>
          <a:p>
            <a:pPr algn="ctr">
              <a:lnSpc>
                <a:spcPts val="7545"/>
              </a:lnSpc>
            </a:pPr>
            <a:r>
              <a:rPr lang="en-US" sz="5388" b="true">
                <a:solidFill>
                  <a:srgbClr val="0F4662"/>
                </a:solidFill>
                <a:latin typeface="Cormorant Garamond Bold"/>
                <a:ea typeface="Cormorant Garamond Bold"/>
                <a:cs typeface="Cormorant Garamond Bold"/>
                <a:sym typeface="Cormorant Garamond Bold"/>
              </a:rPr>
              <a:t>The recommendation system in our project suggests suitable meals to users based on their interests and behavior within the application, while considering price, location, and availability, to help them reach the best choice as quickly as possible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886758" y="1986544"/>
            <a:ext cx="5385768" cy="6896814"/>
          </a:xfrm>
          <a:custGeom>
            <a:avLst/>
            <a:gdLst/>
            <a:ahLst/>
            <a:cxnLst/>
            <a:rect r="r" b="b" t="t" l="l"/>
            <a:pathLst>
              <a:path h="6896814" w="5385768">
                <a:moveTo>
                  <a:pt x="0" y="0"/>
                </a:moveTo>
                <a:lnTo>
                  <a:pt x="5385769" y="0"/>
                </a:lnTo>
                <a:lnTo>
                  <a:pt x="5385769"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451121" y="1986544"/>
            <a:ext cx="5385768" cy="6896814"/>
          </a:xfrm>
          <a:custGeom>
            <a:avLst/>
            <a:gdLst/>
            <a:ahLst/>
            <a:cxnLst/>
            <a:rect r="r" b="b" t="t" l="l"/>
            <a:pathLst>
              <a:path h="6896814" w="5385768">
                <a:moveTo>
                  <a:pt x="0" y="0"/>
                </a:moveTo>
                <a:lnTo>
                  <a:pt x="5385768" y="0"/>
                </a:lnTo>
                <a:lnTo>
                  <a:pt x="5385768" y="6896814"/>
                </a:lnTo>
                <a:lnTo>
                  <a:pt x="0" y="6896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15473" y="1986544"/>
            <a:ext cx="5385768" cy="6896814"/>
          </a:xfrm>
          <a:custGeom>
            <a:avLst/>
            <a:gdLst/>
            <a:ahLst/>
            <a:cxnLst/>
            <a:rect r="r" b="b" t="t" l="l"/>
            <a:pathLst>
              <a:path h="6896814" w="5385768">
                <a:moveTo>
                  <a:pt x="0" y="0"/>
                </a:moveTo>
                <a:lnTo>
                  <a:pt x="5385769" y="0"/>
                </a:lnTo>
                <a:lnTo>
                  <a:pt x="5385769"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886758" y="304705"/>
            <a:ext cx="10515495" cy="1941833"/>
          </a:xfrm>
          <a:prstGeom prst="rect">
            <a:avLst/>
          </a:prstGeom>
        </p:spPr>
        <p:txBody>
          <a:bodyPr anchor="t" rtlCol="false" tIns="0" lIns="0" bIns="0" rIns="0">
            <a:spAutoFit/>
          </a:bodyPr>
          <a:lstStyle/>
          <a:p>
            <a:pPr algn="l">
              <a:lnSpc>
                <a:spcPts val="7420"/>
              </a:lnSpc>
            </a:pPr>
            <a:r>
              <a:rPr lang="en-US" b="true" sz="5299" i="true">
                <a:solidFill>
                  <a:srgbClr val="0F4662"/>
                </a:solidFill>
                <a:latin typeface="Cormorant Garamond Bold Italics"/>
                <a:ea typeface="Cormorant Garamond Bold Italics"/>
                <a:cs typeface="Cormorant Garamond Bold Italics"/>
                <a:sym typeface="Cormorant Garamond Bold Italics"/>
              </a:rPr>
              <a:t>Machine Learning Methodology</a:t>
            </a:r>
          </a:p>
          <a:p>
            <a:pPr algn="l">
              <a:lnSpc>
                <a:spcPts val="7420"/>
              </a:lnSpc>
            </a:pPr>
            <a:r>
              <a:rPr lang="en-US" b="true" sz="5299" i="true">
                <a:solidFill>
                  <a:srgbClr val="0F4662"/>
                </a:solidFill>
                <a:latin typeface="Cormorant Garamond Bold Italics"/>
                <a:ea typeface="Cormorant Garamond Bold Italics"/>
                <a:cs typeface="Cormorant Garamond Bold Italics"/>
                <a:sym typeface="Cormorant Garamond Bold Italics"/>
              </a:rPr>
              <a:t>(Recommendation System) </a:t>
            </a:r>
          </a:p>
        </p:txBody>
      </p:sp>
      <p:sp>
        <p:nvSpPr>
          <p:cNvPr name="TextBox 6" id="6"/>
          <p:cNvSpPr txBox="true"/>
          <p:nvPr/>
        </p:nvSpPr>
        <p:spPr>
          <a:xfrm rot="0">
            <a:off x="1026023" y="2896019"/>
            <a:ext cx="5072672" cy="5549900"/>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ML Task</a:t>
            </a:r>
          </a:p>
          <a:p>
            <a:pPr algn="ctr">
              <a:lnSpc>
                <a:spcPts val="4900"/>
              </a:lnSpc>
            </a:pPr>
            <a:r>
              <a:rPr lang="en-US" sz="3500" b="true">
                <a:solidFill>
                  <a:srgbClr val="0F4662"/>
                </a:solidFill>
                <a:latin typeface="Amiri Bold"/>
                <a:ea typeface="Amiri Bold"/>
                <a:cs typeface="Amiri Bold"/>
                <a:sym typeface="Amiri Bold"/>
              </a:rPr>
              <a:t> </a:t>
            </a:r>
            <a:r>
              <a:rPr lang="en-US" sz="3500">
                <a:solidFill>
                  <a:srgbClr val="0F4662"/>
                </a:solidFill>
                <a:latin typeface="Amiri"/>
                <a:ea typeface="Amiri"/>
                <a:cs typeface="Amiri"/>
                <a:sym typeface="Amiri"/>
              </a:rPr>
              <a:t>Hybrid recommendation based on implicit feedback.</a:t>
            </a:r>
          </a:p>
          <a:p>
            <a:pPr algn="ctr">
              <a:lnSpc>
                <a:spcPts val="4900"/>
              </a:lnSpc>
            </a:pPr>
            <a:r>
              <a:rPr lang="en-US" sz="3500" b="true">
                <a:solidFill>
                  <a:srgbClr val="0F4662"/>
                </a:solidFill>
                <a:latin typeface="Amiri Bold"/>
                <a:ea typeface="Amiri Bold"/>
                <a:cs typeface="Amiri Bold"/>
                <a:sym typeface="Amiri Bold"/>
              </a:rPr>
              <a:t>Algorithms Used</a:t>
            </a:r>
          </a:p>
          <a:p>
            <a:pPr algn="ctr">
              <a:lnSpc>
                <a:spcPts val="4900"/>
              </a:lnSpc>
            </a:pPr>
            <a:r>
              <a:rPr lang="en-US" sz="3500" b="true">
                <a:solidFill>
                  <a:srgbClr val="0F4662"/>
                </a:solidFill>
                <a:latin typeface="Amiri Bold"/>
                <a:ea typeface="Amiri Bold"/>
                <a:cs typeface="Amiri Bold"/>
                <a:sym typeface="Amiri Bold"/>
              </a:rPr>
              <a:t> </a:t>
            </a:r>
            <a:r>
              <a:rPr lang="en-US" sz="3500">
                <a:solidFill>
                  <a:srgbClr val="0F4662"/>
                </a:solidFill>
                <a:latin typeface="Amiri"/>
                <a:ea typeface="Amiri"/>
                <a:cs typeface="Amiri"/>
                <a:sym typeface="Amiri"/>
              </a:rPr>
              <a:t>Collaborative Filtering, Content-Based Filtering, and context-aware ranking rules.</a:t>
            </a:r>
          </a:p>
          <a:p>
            <a:pPr algn="ctr">
              <a:lnSpc>
                <a:spcPts val="4900"/>
              </a:lnSpc>
            </a:pPr>
          </a:p>
        </p:txBody>
      </p:sp>
      <p:sp>
        <p:nvSpPr>
          <p:cNvPr name="TextBox 7" id="7"/>
          <p:cNvSpPr txBox="true"/>
          <p:nvPr/>
        </p:nvSpPr>
        <p:spPr>
          <a:xfrm rot="0">
            <a:off x="6607664" y="3122143"/>
            <a:ext cx="5072672" cy="4311650"/>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Why These Algorithms</a:t>
            </a:r>
          </a:p>
          <a:p>
            <a:pPr algn="ctr">
              <a:lnSpc>
                <a:spcPts val="4900"/>
              </a:lnSpc>
            </a:pPr>
            <a:r>
              <a:rPr lang="en-US" sz="3500" b="true">
                <a:solidFill>
                  <a:srgbClr val="0F4662"/>
                </a:solidFill>
                <a:latin typeface="Amiri Bold"/>
                <a:ea typeface="Amiri Bold"/>
                <a:cs typeface="Amiri Bold"/>
                <a:sym typeface="Amiri Bold"/>
              </a:rPr>
              <a:t> </a:t>
            </a:r>
            <a:r>
              <a:rPr lang="en-US" sz="3500">
                <a:solidFill>
                  <a:srgbClr val="0F4662"/>
                </a:solidFill>
                <a:latin typeface="Amiri"/>
                <a:ea typeface="Amiri"/>
                <a:cs typeface="Amiri"/>
                <a:sym typeface="Amiri"/>
              </a:rPr>
              <a:t>Combines user behavior, meal features, and contextual information to improve personalization, cold-start handling, and recommendation relevance</a:t>
            </a:r>
          </a:p>
        </p:txBody>
      </p:sp>
      <p:sp>
        <p:nvSpPr>
          <p:cNvPr name="TextBox 8" id="8"/>
          <p:cNvSpPr txBox="true"/>
          <p:nvPr/>
        </p:nvSpPr>
        <p:spPr>
          <a:xfrm rot="0">
            <a:off x="12186628" y="3122143"/>
            <a:ext cx="5072672" cy="4311650"/>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Training &amp; Validation</a:t>
            </a:r>
          </a:p>
          <a:p>
            <a:pPr algn="ctr">
              <a:lnSpc>
                <a:spcPts val="4900"/>
              </a:lnSpc>
            </a:pPr>
            <a:r>
              <a:rPr lang="en-US" sz="3500" b="true">
                <a:solidFill>
                  <a:srgbClr val="0F4662"/>
                </a:solidFill>
                <a:latin typeface="Amiri Bold"/>
                <a:ea typeface="Amiri Bold"/>
                <a:cs typeface="Amiri Bold"/>
                <a:sym typeface="Amiri Bold"/>
              </a:rPr>
              <a:t> </a:t>
            </a:r>
            <a:r>
              <a:rPr lang="en-US" sz="3500">
                <a:solidFill>
                  <a:srgbClr val="0F4662"/>
                </a:solidFill>
                <a:latin typeface="Amiri"/>
                <a:ea typeface="Amiri"/>
                <a:cs typeface="Amiri"/>
                <a:sym typeface="Amiri"/>
              </a:rPr>
              <a:t>Interaction data is split chronologically: older interactions for training and recent ones for validation, with no random shuffling.</a:t>
            </a:r>
          </a:p>
          <a:p>
            <a:pPr algn="ctr">
              <a:lnSpc>
                <a:spcPts val="490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92500" y="109699"/>
            <a:ext cx="11537528" cy="1310640"/>
          </a:xfrm>
          <a:prstGeom prst="rect">
            <a:avLst/>
          </a:prstGeom>
        </p:spPr>
        <p:txBody>
          <a:bodyPr anchor="t" rtlCol="false" tIns="0" lIns="0" bIns="0" rIns="0">
            <a:spAutoFit/>
          </a:bodyPr>
          <a:lstStyle/>
          <a:p>
            <a:pPr algn="l">
              <a:lnSpc>
                <a:spcPts val="9658"/>
              </a:lnSpc>
            </a:pPr>
            <a:r>
              <a:rPr lang="en-US" b="true" sz="6898" i="true">
                <a:solidFill>
                  <a:srgbClr val="0F4662"/>
                </a:solidFill>
                <a:latin typeface="Cormorant Garamond Bold Italics"/>
                <a:ea typeface="Cormorant Garamond Bold Italics"/>
                <a:cs typeface="Cormorant Garamond Bold Italics"/>
                <a:sym typeface="Cormorant Garamond Bold Italics"/>
              </a:rPr>
              <a:t>Evaluation Metrics </a:t>
            </a:r>
          </a:p>
        </p:txBody>
      </p:sp>
      <p:sp>
        <p:nvSpPr>
          <p:cNvPr name="Freeform 3" id="3"/>
          <p:cNvSpPr/>
          <p:nvPr/>
        </p:nvSpPr>
        <p:spPr>
          <a:xfrm flipH="false" flipV="false" rot="0">
            <a:off x="1962960" y="1358741"/>
            <a:ext cx="14362081" cy="6896814"/>
          </a:xfrm>
          <a:custGeom>
            <a:avLst/>
            <a:gdLst/>
            <a:ahLst/>
            <a:cxnLst/>
            <a:rect r="r" b="b" t="t" l="l"/>
            <a:pathLst>
              <a:path h="6896814" w="14362081">
                <a:moveTo>
                  <a:pt x="0" y="0"/>
                </a:moveTo>
                <a:lnTo>
                  <a:pt x="14362080" y="0"/>
                </a:lnTo>
                <a:lnTo>
                  <a:pt x="14362080" y="6896815"/>
                </a:lnTo>
                <a:lnTo>
                  <a:pt x="0" y="68968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170696" y="1873409"/>
            <a:ext cx="13433355" cy="3692525"/>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Evaluation Metrics</a:t>
            </a:r>
          </a:p>
          <a:p>
            <a:pPr algn="ctr" marL="800149" indent="-266716" lvl="2">
              <a:lnSpc>
                <a:spcPts val="4900"/>
              </a:lnSpc>
              <a:buFont typeface="Arial"/>
              <a:buChar char="⚬"/>
            </a:pPr>
            <a:r>
              <a:rPr lang="en-US" b="true" sz="3500">
                <a:solidFill>
                  <a:srgbClr val="0F4662"/>
                </a:solidFill>
                <a:latin typeface="Amiri Bold"/>
                <a:ea typeface="Amiri Bold"/>
                <a:cs typeface="Amiri Bold"/>
                <a:sym typeface="Amiri Bold"/>
              </a:rPr>
              <a:t>Precision@K</a:t>
            </a:r>
          </a:p>
          <a:p>
            <a:pPr algn="ctr" marL="800149" indent="-266716" lvl="2">
              <a:lnSpc>
                <a:spcPts val="4900"/>
              </a:lnSpc>
              <a:buFont typeface="Arial"/>
              <a:buChar char="⚬"/>
            </a:pPr>
            <a:r>
              <a:rPr lang="en-US" b="true" sz="3500">
                <a:solidFill>
                  <a:srgbClr val="0F4662"/>
                </a:solidFill>
                <a:latin typeface="Amiri Bold"/>
                <a:ea typeface="Amiri Bold"/>
                <a:cs typeface="Amiri Bold"/>
                <a:sym typeface="Amiri Bold"/>
              </a:rPr>
              <a:t>Recall@K</a:t>
            </a:r>
          </a:p>
          <a:p>
            <a:pPr algn="ctr" marL="800149" indent="-266716" lvl="2">
              <a:lnSpc>
                <a:spcPts val="4900"/>
              </a:lnSpc>
            </a:pPr>
          </a:p>
          <a:p>
            <a:pPr algn="ctr" marL="800149" indent="-266716" lvl="2">
              <a:lnSpc>
                <a:spcPts val="4900"/>
              </a:lnSpc>
            </a:pPr>
            <a:r>
              <a:rPr lang="en-US" b="true" sz="3500">
                <a:solidFill>
                  <a:srgbClr val="0F4662"/>
                </a:solidFill>
                <a:latin typeface="Amiri Bold"/>
                <a:ea typeface="Amiri Bold"/>
                <a:cs typeface="Amiri Bold"/>
                <a:sym typeface="Amiri Bold"/>
              </a:rPr>
              <a:t>User interaction-based validation (rescue and click frequency)</a:t>
            </a:r>
          </a:p>
          <a:p>
            <a:pPr algn="ctr" marL="800149" indent="-266716" lvl="2">
              <a:lnSpc>
                <a:spcPts val="4900"/>
              </a:lnSpc>
            </a:pPr>
          </a:p>
        </p:txBody>
      </p:sp>
      <p:sp>
        <p:nvSpPr>
          <p:cNvPr name="TextBox 5" id="5"/>
          <p:cNvSpPr txBox="true"/>
          <p:nvPr/>
        </p:nvSpPr>
        <p:spPr>
          <a:xfrm rot="0">
            <a:off x="2170696" y="5076825"/>
            <a:ext cx="13433355" cy="4311650"/>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Validation Strategy</a:t>
            </a:r>
          </a:p>
          <a:p>
            <a:pPr algn="ctr" marL="800149" indent="-266716" lvl="2">
              <a:lnSpc>
                <a:spcPts val="4900"/>
              </a:lnSpc>
              <a:buFont typeface="Arial"/>
              <a:buChar char="⚬"/>
            </a:pPr>
            <a:r>
              <a:rPr lang="en-US" b="true" sz="3500">
                <a:solidFill>
                  <a:srgbClr val="0F4662"/>
                </a:solidFill>
                <a:latin typeface="Amiri Bold"/>
                <a:ea typeface="Amiri Bold"/>
                <a:cs typeface="Amiri Bold"/>
                <a:sym typeface="Amiri Bold"/>
              </a:rPr>
              <a:t>Train-test split based on interaction timestamps</a:t>
            </a:r>
          </a:p>
          <a:p>
            <a:pPr algn="ctr" marL="800101" indent="-266700" lvl="2">
              <a:lnSpc>
                <a:spcPts val="4900"/>
              </a:lnSpc>
              <a:buFont typeface="Arial"/>
              <a:buChar char="⚬"/>
            </a:pPr>
            <a:r>
              <a:rPr lang="en-US" b="true" sz="3500">
                <a:solidFill>
                  <a:srgbClr val="0F4662"/>
                </a:solidFill>
                <a:latin typeface="Amiri Bold"/>
                <a:ea typeface="Amiri Bold"/>
                <a:cs typeface="Amiri Bold"/>
                <a:sym typeface="Amiri Bold"/>
              </a:rPr>
              <a:t>Recent interactions used for testing to simulate real user behavior</a:t>
            </a:r>
          </a:p>
          <a:p>
            <a:pPr algn="ctr" marL="800149" indent="-266716" lvl="2">
              <a:lnSpc>
                <a:spcPts val="4900"/>
              </a:lnSpc>
              <a:buFont typeface="Arial"/>
              <a:buChar char="⚬"/>
            </a:pPr>
            <a:r>
              <a:rPr lang="en-US" b="true" sz="3500">
                <a:solidFill>
                  <a:srgbClr val="0F4662"/>
                </a:solidFill>
                <a:latin typeface="Amiri Bold"/>
                <a:ea typeface="Amiri Bold"/>
                <a:cs typeface="Amiri Bold"/>
                <a:sym typeface="Amiri Bold"/>
              </a:rPr>
              <a:t>A/B Testing for Recommendation Strategy Comparison</a:t>
            </a:r>
          </a:p>
          <a:p>
            <a:pPr algn="ctr" marL="800149" indent="-266716" lvl="2">
              <a:lnSpc>
                <a:spcPts val="4900"/>
              </a:lnSpc>
            </a:pPr>
          </a:p>
          <a:p>
            <a:pPr algn="ctr" marL="800149" indent="-266716" lvl="2">
              <a:lnSpc>
                <a:spcPts val="490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2317547" y="2361486"/>
            <a:ext cx="13652916" cy="6896814"/>
          </a:xfrm>
          <a:custGeom>
            <a:avLst/>
            <a:gdLst/>
            <a:ahLst/>
            <a:cxnLst/>
            <a:rect r="r" b="b" t="t" l="l"/>
            <a:pathLst>
              <a:path h="6896814" w="13652916">
                <a:moveTo>
                  <a:pt x="0" y="0"/>
                </a:moveTo>
                <a:lnTo>
                  <a:pt x="13652916" y="0"/>
                </a:lnTo>
                <a:lnTo>
                  <a:pt x="13652916"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762000"/>
            <a:ext cx="9335367"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Demand Description</a:t>
            </a:r>
          </a:p>
        </p:txBody>
      </p:sp>
      <p:sp>
        <p:nvSpPr>
          <p:cNvPr name="TextBox 4" id="4"/>
          <p:cNvSpPr txBox="true"/>
          <p:nvPr/>
        </p:nvSpPr>
        <p:spPr>
          <a:xfrm rot="0">
            <a:off x="2837402" y="2915984"/>
            <a:ext cx="12613205" cy="5972251"/>
          </a:xfrm>
          <a:prstGeom prst="rect">
            <a:avLst/>
          </a:prstGeom>
        </p:spPr>
        <p:txBody>
          <a:bodyPr anchor="t" rtlCol="false" tIns="0" lIns="0" bIns="0" rIns="0">
            <a:spAutoFit/>
          </a:bodyPr>
          <a:lstStyle/>
          <a:p>
            <a:pPr algn="ctr">
              <a:lnSpc>
                <a:spcPts val="6822"/>
              </a:lnSpc>
            </a:pPr>
            <a:r>
              <a:rPr lang="en-US" sz="4873" b="true">
                <a:solidFill>
                  <a:srgbClr val="0F4662"/>
                </a:solidFill>
                <a:latin typeface="Cormorant Garamond Bold"/>
                <a:ea typeface="Cormorant Garamond Bold"/>
                <a:cs typeface="Cormorant Garamond Bold"/>
                <a:sym typeface="Cormorant Garamond Bold"/>
              </a:rPr>
              <a:t>Our project uses demand prediction to tackle food waste. By forecasting customer demand from all food providers—including restaurants, bakeries, and home-based sellers—it helps the system suggest exactly how much food to prepare, reducing overproduction, minimizing waste, and improving operational efficiency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886758" y="1986544"/>
            <a:ext cx="5385768" cy="6896814"/>
          </a:xfrm>
          <a:custGeom>
            <a:avLst/>
            <a:gdLst/>
            <a:ahLst/>
            <a:cxnLst/>
            <a:rect r="r" b="b" t="t" l="l"/>
            <a:pathLst>
              <a:path h="6896814" w="5385768">
                <a:moveTo>
                  <a:pt x="0" y="0"/>
                </a:moveTo>
                <a:lnTo>
                  <a:pt x="5385769" y="0"/>
                </a:lnTo>
                <a:lnTo>
                  <a:pt x="5385769"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451121" y="1986544"/>
            <a:ext cx="5385768" cy="6896814"/>
          </a:xfrm>
          <a:custGeom>
            <a:avLst/>
            <a:gdLst/>
            <a:ahLst/>
            <a:cxnLst/>
            <a:rect r="r" b="b" t="t" l="l"/>
            <a:pathLst>
              <a:path h="6896814" w="5385768">
                <a:moveTo>
                  <a:pt x="0" y="0"/>
                </a:moveTo>
                <a:lnTo>
                  <a:pt x="5385768" y="0"/>
                </a:lnTo>
                <a:lnTo>
                  <a:pt x="5385768" y="6896814"/>
                </a:lnTo>
                <a:lnTo>
                  <a:pt x="0" y="6896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15473" y="1986544"/>
            <a:ext cx="5385768" cy="6896814"/>
          </a:xfrm>
          <a:custGeom>
            <a:avLst/>
            <a:gdLst/>
            <a:ahLst/>
            <a:cxnLst/>
            <a:rect r="r" b="b" t="t" l="l"/>
            <a:pathLst>
              <a:path h="6896814" w="5385768">
                <a:moveTo>
                  <a:pt x="0" y="0"/>
                </a:moveTo>
                <a:lnTo>
                  <a:pt x="5385769" y="0"/>
                </a:lnTo>
                <a:lnTo>
                  <a:pt x="5385769"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436902" y="-46987"/>
            <a:ext cx="10515495" cy="1941833"/>
          </a:xfrm>
          <a:prstGeom prst="rect">
            <a:avLst/>
          </a:prstGeom>
        </p:spPr>
        <p:txBody>
          <a:bodyPr anchor="t" rtlCol="false" tIns="0" lIns="0" bIns="0" rIns="0">
            <a:spAutoFit/>
          </a:bodyPr>
          <a:lstStyle/>
          <a:p>
            <a:pPr algn="l">
              <a:lnSpc>
                <a:spcPts val="7420"/>
              </a:lnSpc>
            </a:pPr>
            <a:r>
              <a:rPr lang="en-US" b="true" sz="5299" i="true">
                <a:solidFill>
                  <a:srgbClr val="0F4662"/>
                </a:solidFill>
                <a:latin typeface="Cormorant Garamond Bold Italics"/>
                <a:ea typeface="Cormorant Garamond Bold Italics"/>
                <a:cs typeface="Cormorant Garamond Bold Italics"/>
                <a:sym typeface="Cormorant Garamond Bold Italics"/>
              </a:rPr>
              <a:t>Machine Learning Methodology</a:t>
            </a:r>
          </a:p>
          <a:p>
            <a:pPr algn="l">
              <a:lnSpc>
                <a:spcPts val="7420"/>
              </a:lnSpc>
            </a:pPr>
            <a:r>
              <a:rPr lang="en-US" b="true" sz="5299" i="true">
                <a:solidFill>
                  <a:srgbClr val="0F4662"/>
                </a:solidFill>
                <a:latin typeface="Cormorant Garamond Bold Italics"/>
                <a:ea typeface="Cormorant Garamond Bold Italics"/>
                <a:cs typeface="Cormorant Garamond Bold Italics"/>
                <a:sym typeface="Cormorant Garamond Bold Italics"/>
              </a:rPr>
              <a:t>(Demand Prediction)</a:t>
            </a:r>
          </a:p>
        </p:txBody>
      </p:sp>
      <p:sp>
        <p:nvSpPr>
          <p:cNvPr name="TextBox 6" id="6"/>
          <p:cNvSpPr txBox="true"/>
          <p:nvPr/>
        </p:nvSpPr>
        <p:spPr>
          <a:xfrm rot="0">
            <a:off x="964154" y="2397242"/>
            <a:ext cx="5230978" cy="6380451"/>
          </a:xfrm>
          <a:prstGeom prst="rect">
            <a:avLst/>
          </a:prstGeom>
        </p:spPr>
        <p:txBody>
          <a:bodyPr anchor="t" rtlCol="false" tIns="0" lIns="0" bIns="0" rIns="0">
            <a:spAutoFit/>
          </a:bodyPr>
          <a:lstStyle/>
          <a:p>
            <a:pPr algn="ctr">
              <a:lnSpc>
                <a:spcPts val="4226"/>
              </a:lnSpc>
            </a:pPr>
          </a:p>
          <a:p>
            <a:pPr algn="ctr">
              <a:lnSpc>
                <a:spcPts val="4226"/>
              </a:lnSpc>
            </a:pPr>
            <a:r>
              <a:rPr lang="en-US" sz="3019" b="true">
                <a:solidFill>
                  <a:srgbClr val="0F4662"/>
                </a:solidFill>
                <a:latin typeface="Amiri Bold"/>
                <a:ea typeface="Amiri Bold"/>
                <a:cs typeface="Amiri Bold"/>
                <a:sym typeface="Amiri Bold"/>
              </a:rPr>
              <a:t> ML Task</a:t>
            </a:r>
          </a:p>
          <a:p>
            <a:pPr algn="ctr">
              <a:lnSpc>
                <a:spcPts val="4226"/>
              </a:lnSpc>
            </a:pPr>
            <a:r>
              <a:rPr lang="en-US" sz="3019">
                <a:solidFill>
                  <a:srgbClr val="0F4662"/>
                </a:solidFill>
                <a:latin typeface="Amiri"/>
                <a:ea typeface="Amiri"/>
                <a:cs typeface="Amiri"/>
                <a:sym typeface="Amiri"/>
              </a:rPr>
              <a:t> Regression to predict daily restaurant visitors, with classification to label demand levels (Low, Medium, High).</a:t>
            </a:r>
          </a:p>
          <a:p>
            <a:pPr algn="ctr">
              <a:lnSpc>
                <a:spcPts val="4226"/>
              </a:lnSpc>
            </a:pPr>
            <a:r>
              <a:rPr lang="en-US" sz="3019" b="true">
                <a:solidFill>
                  <a:srgbClr val="0F4662"/>
                </a:solidFill>
                <a:latin typeface="Amiri Bold"/>
                <a:ea typeface="Amiri Bold"/>
                <a:cs typeface="Amiri Bold"/>
                <a:sym typeface="Amiri Bold"/>
              </a:rPr>
              <a:t>Algorithms Used</a:t>
            </a:r>
          </a:p>
          <a:p>
            <a:pPr algn="ctr">
              <a:lnSpc>
                <a:spcPts val="4226"/>
              </a:lnSpc>
            </a:pPr>
            <a:r>
              <a:rPr lang="en-US" sz="3019">
                <a:solidFill>
                  <a:srgbClr val="0F4662"/>
                </a:solidFill>
                <a:latin typeface="Amiri"/>
                <a:ea typeface="Amiri"/>
                <a:cs typeface="Amiri"/>
                <a:sym typeface="Amiri"/>
              </a:rPr>
              <a:t> Linear Regression (final model),  and Logistic Regression for demand classification.</a:t>
            </a:r>
          </a:p>
          <a:p>
            <a:pPr algn="ctr">
              <a:lnSpc>
                <a:spcPts val="4226"/>
              </a:lnSpc>
            </a:pPr>
          </a:p>
          <a:p>
            <a:pPr algn="ctr">
              <a:lnSpc>
                <a:spcPts val="4226"/>
              </a:lnSpc>
            </a:pPr>
          </a:p>
        </p:txBody>
      </p:sp>
      <p:sp>
        <p:nvSpPr>
          <p:cNvPr name="TextBox 7" id="7"/>
          <p:cNvSpPr txBox="true"/>
          <p:nvPr/>
        </p:nvSpPr>
        <p:spPr>
          <a:xfrm rot="0">
            <a:off x="6714925" y="2969762"/>
            <a:ext cx="4858150" cy="4865599"/>
          </a:xfrm>
          <a:prstGeom prst="rect">
            <a:avLst/>
          </a:prstGeom>
        </p:spPr>
        <p:txBody>
          <a:bodyPr anchor="t" rtlCol="false" tIns="0" lIns="0" bIns="0" rIns="0">
            <a:spAutoFit/>
          </a:bodyPr>
          <a:lstStyle/>
          <a:p>
            <a:pPr algn="l">
              <a:lnSpc>
                <a:spcPts val="4290"/>
              </a:lnSpc>
            </a:pPr>
            <a:r>
              <a:rPr lang="en-US" sz="3064" b="true">
                <a:solidFill>
                  <a:srgbClr val="0F4662"/>
                </a:solidFill>
                <a:latin typeface="Amiri Bold"/>
                <a:ea typeface="Amiri Bold"/>
                <a:cs typeface="Amiri Bold"/>
                <a:sym typeface="Amiri Bold"/>
              </a:rPr>
              <a:t>Why These Algorithms</a:t>
            </a:r>
          </a:p>
          <a:p>
            <a:pPr algn="l" marL="700500" indent="-233500" lvl="2">
              <a:lnSpc>
                <a:spcPts val="4290"/>
              </a:lnSpc>
              <a:buFont typeface="Arial"/>
              <a:buChar char="⚬"/>
            </a:pPr>
            <a:r>
              <a:rPr lang="en-US" b="true" sz="3064">
                <a:solidFill>
                  <a:srgbClr val="0F4662"/>
                </a:solidFill>
                <a:latin typeface="Amiri Bold"/>
                <a:ea typeface="Amiri Bold"/>
                <a:cs typeface="Amiri Bold"/>
                <a:sym typeface="Amiri Bold"/>
              </a:rPr>
              <a:t>Linear Regression:</a:t>
            </a:r>
            <a:r>
              <a:rPr lang="en-US" sz="3064">
                <a:solidFill>
                  <a:srgbClr val="0F4662"/>
                </a:solidFill>
                <a:latin typeface="Amiri"/>
                <a:ea typeface="Amiri"/>
                <a:cs typeface="Amiri"/>
                <a:sym typeface="Amiri"/>
              </a:rPr>
              <a:t> interpretable and effective on structured time-series data</a:t>
            </a:r>
          </a:p>
          <a:p>
            <a:pPr algn="l" marL="700500" indent="-233500" lvl="2">
              <a:lnSpc>
                <a:spcPts val="4290"/>
              </a:lnSpc>
              <a:buFont typeface="Arial"/>
              <a:buChar char="⚬"/>
            </a:pPr>
            <a:r>
              <a:rPr lang="en-US" b="true" sz="3064">
                <a:solidFill>
                  <a:srgbClr val="0F4662"/>
                </a:solidFill>
                <a:latin typeface="Amiri Bold"/>
                <a:ea typeface="Amiri Bold"/>
                <a:cs typeface="Amiri Bold"/>
                <a:sym typeface="Amiri Bold"/>
              </a:rPr>
              <a:t>Logistic Regression:</a:t>
            </a:r>
            <a:r>
              <a:rPr lang="en-US" sz="3064">
                <a:solidFill>
                  <a:srgbClr val="0F4662"/>
                </a:solidFill>
                <a:latin typeface="Amiri"/>
                <a:ea typeface="Amiri"/>
                <a:cs typeface="Amiri"/>
                <a:sym typeface="Amiri"/>
              </a:rPr>
              <a:t> enables demand level classification</a:t>
            </a:r>
          </a:p>
          <a:p>
            <a:pPr algn="l" marL="700500" indent="-233500" lvl="2">
              <a:lnSpc>
                <a:spcPts val="4290"/>
              </a:lnSpc>
            </a:pPr>
          </a:p>
        </p:txBody>
      </p:sp>
      <p:sp>
        <p:nvSpPr>
          <p:cNvPr name="TextBox 8" id="8"/>
          <p:cNvSpPr txBox="true"/>
          <p:nvPr/>
        </p:nvSpPr>
        <p:spPr>
          <a:xfrm rot="0">
            <a:off x="12275039" y="2960237"/>
            <a:ext cx="5072672" cy="5616569"/>
          </a:xfrm>
          <a:prstGeom prst="rect">
            <a:avLst/>
          </a:prstGeom>
        </p:spPr>
        <p:txBody>
          <a:bodyPr anchor="t" rtlCol="false" tIns="0" lIns="0" bIns="0" rIns="0">
            <a:spAutoFit/>
          </a:bodyPr>
          <a:lstStyle/>
          <a:p>
            <a:pPr algn="l">
              <a:lnSpc>
                <a:spcPts val="4900"/>
              </a:lnSpc>
            </a:pPr>
            <a:r>
              <a:rPr lang="en-US" sz="3500" b="true">
                <a:solidFill>
                  <a:srgbClr val="0F4662"/>
                </a:solidFill>
                <a:latin typeface="Amiri Bold"/>
                <a:ea typeface="Amiri Bold"/>
                <a:cs typeface="Amiri Bold"/>
                <a:sym typeface="Amiri Bold"/>
              </a:rPr>
              <a:t>Training &amp; Validation</a:t>
            </a:r>
          </a:p>
          <a:p>
            <a:pPr algn="l" marL="800149" indent="-266716" lvl="2">
              <a:lnSpc>
                <a:spcPts val="4900"/>
              </a:lnSpc>
              <a:buFont typeface="Arial"/>
              <a:buChar char="⚬"/>
            </a:pPr>
            <a:r>
              <a:rPr lang="en-US" sz="3500">
                <a:solidFill>
                  <a:srgbClr val="0F4662"/>
                </a:solidFill>
                <a:latin typeface="Amiri"/>
                <a:ea typeface="Amiri"/>
                <a:cs typeface="Amiri"/>
                <a:sym typeface="Amiri"/>
              </a:rPr>
              <a:t>Time-based train-test split</a:t>
            </a:r>
          </a:p>
          <a:p>
            <a:pPr algn="l" marL="800149" indent="-266716" lvl="2">
              <a:lnSpc>
                <a:spcPts val="4900"/>
              </a:lnSpc>
              <a:buFont typeface="Arial"/>
              <a:buChar char="⚬"/>
            </a:pPr>
            <a:r>
              <a:rPr lang="en-US" sz="3500">
                <a:solidFill>
                  <a:srgbClr val="0F4662"/>
                </a:solidFill>
                <a:latin typeface="Amiri"/>
                <a:ea typeface="Amiri"/>
                <a:cs typeface="Amiri"/>
                <a:sym typeface="Amiri"/>
              </a:rPr>
              <a:t>No random shuffling to prevent data leakage</a:t>
            </a:r>
          </a:p>
          <a:p>
            <a:pPr algn="l" marL="800149" indent="-266716" lvl="2">
              <a:lnSpc>
                <a:spcPts val="4900"/>
              </a:lnSpc>
              <a:buFont typeface="Arial"/>
              <a:buChar char="⚬"/>
            </a:pPr>
            <a:r>
              <a:rPr lang="en-US" sz="3500">
                <a:solidFill>
                  <a:srgbClr val="0F4662"/>
                </a:solidFill>
                <a:latin typeface="Amiri"/>
                <a:ea typeface="Amiri"/>
                <a:cs typeface="Amiri"/>
                <a:sym typeface="Amiri"/>
              </a:rPr>
              <a:t>Tested on future unseen data</a:t>
            </a:r>
          </a:p>
          <a:p>
            <a:pPr algn="l" marL="800149" indent="-266716" lvl="2">
              <a:lnSpc>
                <a:spcPts val="4900"/>
              </a:lnSpc>
            </a:pPr>
          </a:p>
          <a:p>
            <a:pPr algn="l" marL="800149" indent="-266716" lvl="2">
              <a:lnSpc>
                <a:spcPts val="490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92500" y="109699"/>
            <a:ext cx="11537528" cy="1310640"/>
          </a:xfrm>
          <a:prstGeom prst="rect">
            <a:avLst/>
          </a:prstGeom>
        </p:spPr>
        <p:txBody>
          <a:bodyPr anchor="t" rtlCol="false" tIns="0" lIns="0" bIns="0" rIns="0">
            <a:spAutoFit/>
          </a:bodyPr>
          <a:lstStyle/>
          <a:p>
            <a:pPr algn="l">
              <a:lnSpc>
                <a:spcPts val="9658"/>
              </a:lnSpc>
            </a:pPr>
            <a:r>
              <a:rPr lang="en-US" b="true" sz="6898" i="true">
                <a:solidFill>
                  <a:srgbClr val="0F4662"/>
                </a:solidFill>
                <a:latin typeface="Cormorant Garamond Bold Italics"/>
                <a:ea typeface="Cormorant Garamond Bold Italics"/>
                <a:cs typeface="Cormorant Garamond Bold Italics"/>
                <a:sym typeface="Cormorant Garamond Bold Italics"/>
              </a:rPr>
              <a:t>Evaluation Metrics </a:t>
            </a:r>
          </a:p>
        </p:txBody>
      </p:sp>
      <p:sp>
        <p:nvSpPr>
          <p:cNvPr name="Freeform 3" id="3"/>
          <p:cNvSpPr/>
          <p:nvPr/>
        </p:nvSpPr>
        <p:spPr>
          <a:xfrm flipH="false" flipV="false" rot="0">
            <a:off x="1962960" y="1460021"/>
            <a:ext cx="14362081" cy="6896814"/>
          </a:xfrm>
          <a:custGeom>
            <a:avLst/>
            <a:gdLst/>
            <a:ahLst/>
            <a:cxnLst/>
            <a:rect r="r" b="b" t="t" l="l"/>
            <a:pathLst>
              <a:path h="6896814" w="14362081">
                <a:moveTo>
                  <a:pt x="0" y="0"/>
                </a:moveTo>
                <a:lnTo>
                  <a:pt x="14362080" y="0"/>
                </a:lnTo>
                <a:lnTo>
                  <a:pt x="14362080" y="6896814"/>
                </a:lnTo>
                <a:lnTo>
                  <a:pt x="0" y="68968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297678" y="2212505"/>
            <a:ext cx="13433355" cy="1901819"/>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Regression Metrics: </a:t>
            </a:r>
          </a:p>
          <a:p>
            <a:pPr algn="ctr">
              <a:lnSpc>
                <a:spcPts val="4900"/>
              </a:lnSpc>
            </a:pPr>
            <a:r>
              <a:rPr lang="en-US" sz="3500" b="true">
                <a:solidFill>
                  <a:srgbClr val="0F4662"/>
                </a:solidFill>
                <a:latin typeface="Amiri Bold"/>
                <a:ea typeface="Amiri Bold"/>
                <a:cs typeface="Amiri Bold"/>
                <a:sym typeface="Amiri Bold"/>
              </a:rPr>
              <a:t>MAE, RMSE, R² Score</a:t>
            </a:r>
          </a:p>
          <a:p>
            <a:pPr algn="ctr">
              <a:lnSpc>
                <a:spcPts val="4900"/>
              </a:lnSpc>
            </a:pPr>
          </a:p>
        </p:txBody>
      </p:sp>
      <p:sp>
        <p:nvSpPr>
          <p:cNvPr name="TextBox 5" id="5"/>
          <p:cNvSpPr txBox="true"/>
          <p:nvPr/>
        </p:nvSpPr>
        <p:spPr>
          <a:xfrm rot="0">
            <a:off x="2427322" y="3870312"/>
            <a:ext cx="13433355" cy="1834927"/>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Classification Metrics: </a:t>
            </a:r>
          </a:p>
          <a:p>
            <a:pPr algn="ctr">
              <a:lnSpc>
                <a:spcPts val="4900"/>
              </a:lnSpc>
            </a:pPr>
            <a:r>
              <a:rPr lang="en-US" sz="3500" b="true">
                <a:solidFill>
                  <a:srgbClr val="0F4662"/>
                </a:solidFill>
                <a:latin typeface="Amiri Bold"/>
                <a:ea typeface="Amiri Bold"/>
                <a:cs typeface="Amiri Bold"/>
                <a:sym typeface="Amiri Bold"/>
              </a:rPr>
              <a:t>Accuracy, Precision, Recall, F1-score, Confusion Matrix</a:t>
            </a:r>
          </a:p>
          <a:p>
            <a:pPr algn="ctr">
              <a:lnSpc>
                <a:spcPts val="4900"/>
              </a:lnSpc>
            </a:pPr>
          </a:p>
        </p:txBody>
      </p:sp>
      <p:sp>
        <p:nvSpPr>
          <p:cNvPr name="TextBox 6" id="6"/>
          <p:cNvSpPr txBox="true"/>
          <p:nvPr/>
        </p:nvSpPr>
        <p:spPr>
          <a:xfrm rot="0">
            <a:off x="2427322" y="5849750"/>
            <a:ext cx="13433355" cy="1901819"/>
          </a:xfrm>
          <a:prstGeom prst="rect">
            <a:avLst/>
          </a:prstGeom>
        </p:spPr>
        <p:txBody>
          <a:bodyPr anchor="t" rtlCol="false" tIns="0" lIns="0" bIns="0" rIns="0">
            <a:spAutoFit/>
          </a:bodyPr>
          <a:lstStyle/>
          <a:p>
            <a:pPr algn="ctr">
              <a:lnSpc>
                <a:spcPts val="4900"/>
              </a:lnSpc>
            </a:pPr>
            <a:r>
              <a:rPr lang="en-US" sz="3500" b="true">
                <a:solidFill>
                  <a:srgbClr val="0F4662"/>
                </a:solidFill>
                <a:latin typeface="Amiri Bold"/>
                <a:ea typeface="Amiri Bold"/>
                <a:cs typeface="Amiri Bold"/>
                <a:sym typeface="Amiri Bold"/>
              </a:rPr>
              <a:t>Validation Approach:</a:t>
            </a:r>
          </a:p>
          <a:p>
            <a:pPr algn="ctr">
              <a:lnSpc>
                <a:spcPts val="4900"/>
              </a:lnSpc>
            </a:pPr>
            <a:r>
              <a:rPr lang="en-US" sz="3500" b="true">
                <a:solidFill>
                  <a:srgbClr val="0F4662"/>
                </a:solidFill>
                <a:latin typeface="Amiri Bold"/>
                <a:ea typeface="Amiri Bold"/>
                <a:cs typeface="Amiri Bold"/>
                <a:sym typeface="Amiri Bold"/>
              </a:rPr>
              <a:t>Chronological validation due to time-series nature</a:t>
            </a:r>
          </a:p>
          <a:p>
            <a:pPr algn="ctr">
              <a:lnSpc>
                <a:spcPts val="4900"/>
              </a:lnSpc>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230295"/>
            <a:ext cx="11534823"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Tools &amp; Technologies</a:t>
            </a:r>
          </a:p>
        </p:txBody>
      </p:sp>
      <p:sp>
        <p:nvSpPr>
          <p:cNvPr name="TextBox 3" id="3"/>
          <p:cNvSpPr txBox="true"/>
          <p:nvPr/>
        </p:nvSpPr>
        <p:spPr>
          <a:xfrm rot="0">
            <a:off x="1028700" y="1410691"/>
            <a:ext cx="16230600" cy="8194739"/>
          </a:xfrm>
          <a:prstGeom prst="rect">
            <a:avLst/>
          </a:prstGeom>
        </p:spPr>
        <p:txBody>
          <a:bodyPr anchor="t" rtlCol="false" tIns="0" lIns="0" bIns="0" rIns="0">
            <a:spAutoFit/>
          </a:bodyPr>
          <a:lstStyle/>
          <a:p>
            <a:pPr algn="l">
              <a:lnSpc>
                <a:spcPts val="5440"/>
              </a:lnSpc>
            </a:pPr>
            <a:r>
              <a:rPr lang="en-US" sz="3200" b="true">
                <a:solidFill>
                  <a:srgbClr val="0F4662"/>
                </a:solidFill>
                <a:latin typeface="Quicksand Bold"/>
                <a:ea typeface="Quicksand Bold"/>
                <a:cs typeface="Quicksand Bold"/>
                <a:sym typeface="Quicksand Bold"/>
              </a:rPr>
              <a:t>Web &amp; Mobile Development</a:t>
            </a:r>
          </a:p>
          <a:p>
            <a:pPr algn="l" marL="548640" indent="-182880" lvl="2">
              <a:lnSpc>
                <a:spcPts val="4077"/>
              </a:lnSpc>
              <a:buFont typeface="Arial"/>
              <a:buChar char="⚬"/>
            </a:pPr>
            <a:r>
              <a:rPr lang="en-US" sz="2400">
                <a:solidFill>
                  <a:srgbClr val="0F4662"/>
                </a:solidFill>
                <a:latin typeface="Quicksand"/>
                <a:ea typeface="Quicksand"/>
                <a:cs typeface="Quicksand"/>
                <a:sym typeface="Quicksand"/>
              </a:rPr>
              <a:t>Frontend: HTML, CSS, JavaScript, Angular, Bootstrap, Tailwind CSS (Admin &amp; Restaurant Dashboards)</a:t>
            </a:r>
          </a:p>
          <a:p>
            <a:pPr algn="l" marL="548640" indent="-182880" lvl="2">
              <a:lnSpc>
                <a:spcPts val="4077"/>
              </a:lnSpc>
              <a:buFont typeface="Arial"/>
              <a:buChar char="⚬"/>
            </a:pPr>
            <a:r>
              <a:rPr lang="en-US" sz="2400">
                <a:solidFill>
                  <a:srgbClr val="0F4662"/>
                </a:solidFill>
                <a:latin typeface="Quicksand"/>
                <a:ea typeface="Quicksand"/>
                <a:cs typeface="Quicksand"/>
                <a:sym typeface="Quicksand"/>
              </a:rPr>
              <a:t>Backend: Node.js, Express, Firebase, Supabase – Authentication, Database Management, APIs, Multi-role Systems (Restaurant, Charity, User), Secure &amp; Modular Backend Design</a:t>
            </a:r>
          </a:p>
          <a:p>
            <a:pPr algn="l" marL="548640" indent="-182880" lvl="2">
              <a:lnSpc>
                <a:spcPts val="4079"/>
              </a:lnSpc>
              <a:buFont typeface="Arial"/>
              <a:buChar char="⚬"/>
            </a:pPr>
            <a:r>
              <a:rPr lang="en-US" sz="2400">
                <a:solidFill>
                  <a:srgbClr val="0F4662"/>
                </a:solidFill>
                <a:latin typeface="Quicksand"/>
                <a:ea typeface="Quicksand"/>
                <a:cs typeface="Quicksand"/>
                <a:sym typeface="Quicksand"/>
              </a:rPr>
              <a:t>Mobile Development: Flutter &amp; Dart – State Management, Firebase Authentication, Supabase Integration, REST APIs, Architecture Patterns, Localization, Git &amp; GitHub</a:t>
            </a:r>
          </a:p>
          <a:p>
            <a:pPr algn="l">
              <a:lnSpc>
                <a:spcPts val="5440"/>
              </a:lnSpc>
            </a:pPr>
            <a:r>
              <a:rPr lang="en-US" b="true" sz="3200">
                <a:solidFill>
                  <a:srgbClr val="0F4662"/>
                </a:solidFill>
                <a:latin typeface="Quicksand Bold"/>
                <a:ea typeface="Quicksand Bold"/>
                <a:cs typeface="Quicksand Bold"/>
                <a:sym typeface="Quicksand Bold"/>
              </a:rPr>
              <a:t>Programming &amp; Data</a:t>
            </a:r>
          </a:p>
          <a:p>
            <a:pPr algn="l" marL="548640" indent="-182880" lvl="2">
              <a:lnSpc>
                <a:spcPts val="4079"/>
              </a:lnSpc>
              <a:buFont typeface="Arial"/>
              <a:buChar char="⚬"/>
            </a:pPr>
            <a:r>
              <a:rPr lang="en-US" sz="2400">
                <a:solidFill>
                  <a:srgbClr val="0F4662"/>
                </a:solidFill>
                <a:latin typeface="Quicksand"/>
                <a:ea typeface="Quicksand"/>
                <a:cs typeface="Quicksand"/>
                <a:sym typeface="Quicksand"/>
              </a:rPr>
              <a:t>Python: Pandas, NumPy – Data Manipulation</a:t>
            </a:r>
          </a:p>
          <a:p>
            <a:pPr algn="l" marL="548640" indent="-182880" lvl="2">
              <a:lnSpc>
                <a:spcPts val="4079"/>
              </a:lnSpc>
              <a:buFont typeface="Arial"/>
              <a:buChar char="⚬"/>
            </a:pPr>
            <a:r>
              <a:rPr lang="en-US" sz="2400">
                <a:solidFill>
                  <a:srgbClr val="0F4662"/>
                </a:solidFill>
                <a:latin typeface="Quicksand"/>
                <a:ea typeface="Quicksand"/>
                <a:cs typeface="Quicksand"/>
                <a:sym typeface="Quicksand"/>
              </a:rPr>
              <a:t>Machine Learning: Scikit-learn – Regression, Logistic Regression, Random Forest, Collaborative Filtering</a:t>
            </a:r>
          </a:p>
          <a:p>
            <a:pPr algn="l" marL="548640" indent="-182880" lvl="2">
              <a:lnSpc>
                <a:spcPts val="4077"/>
              </a:lnSpc>
              <a:buFont typeface="Arial"/>
              <a:buChar char="⚬"/>
            </a:pPr>
            <a:r>
              <a:rPr lang="en-US" sz="2400">
                <a:solidFill>
                  <a:srgbClr val="0F4662"/>
                </a:solidFill>
                <a:latin typeface="Quicksand"/>
                <a:ea typeface="Quicksand"/>
                <a:cs typeface="Quicksand"/>
                <a:sym typeface="Quicksand"/>
              </a:rPr>
              <a:t>Recommendation Systems: Hybrid &amp; Custom ML-based Recommendation Models</a:t>
            </a:r>
          </a:p>
          <a:p>
            <a:pPr algn="l" marL="548640" indent="-182880" lvl="2">
              <a:lnSpc>
                <a:spcPts val="4079"/>
              </a:lnSpc>
              <a:buFont typeface="Arial"/>
              <a:buChar char="⚬"/>
            </a:pPr>
          </a:p>
          <a:p>
            <a:pPr algn="l">
              <a:lnSpc>
                <a:spcPts val="5440"/>
              </a:lnSpc>
            </a:pPr>
            <a:r>
              <a:rPr lang="en-US" b="true" sz="3200">
                <a:solidFill>
                  <a:srgbClr val="0F4662"/>
                </a:solidFill>
                <a:latin typeface="Quicksand Bold"/>
                <a:ea typeface="Quicksand Bold"/>
                <a:cs typeface="Quicksand Bold"/>
                <a:sym typeface="Quicksand Bold"/>
              </a:rPr>
              <a:t>AI &amp; Machine Learning</a:t>
            </a:r>
          </a:p>
          <a:p>
            <a:pPr algn="l" marL="548640" indent="-182880" lvl="2">
              <a:lnSpc>
                <a:spcPts val="4079"/>
              </a:lnSpc>
              <a:buFont typeface="Arial"/>
              <a:buChar char="⚬"/>
            </a:pPr>
            <a:r>
              <a:rPr lang="en-US" sz="2400">
                <a:solidFill>
                  <a:srgbClr val="0F4662"/>
                </a:solidFill>
                <a:latin typeface="Quicksand"/>
                <a:ea typeface="Quicksand"/>
                <a:cs typeface="Quicksand"/>
                <a:sym typeface="Quicksand"/>
              </a:rPr>
              <a:t>NLP &amp; Chatbot Development using NLP Libraries (spaCy, NLTK, Custom Solutions)</a:t>
            </a:r>
          </a:p>
          <a:p>
            <a:pPr algn="l" marL="548640" indent="-182880" lvl="2">
              <a:lnSpc>
                <a:spcPts val="4079"/>
              </a:lnSpc>
              <a:buFont typeface="Arial"/>
              <a:buChar char="⚬"/>
            </a:pPr>
            <a:r>
              <a:rPr lang="en-US" sz="2400">
                <a:solidFill>
                  <a:srgbClr val="0F4662"/>
                </a:solidFill>
                <a:latin typeface="Quicksand"/>
                <a:ea typeface="Quicksand"/>
                <a:cs typeface="Quicksand"/>
                <a:sym typeface="Quicksand"/>
              </a:rPr>
              <a:t> ML Models: Linear Regression, Random Forest, Logistic Regression, Collaborative Filtering</a:t>
            </a:r>
          </a:p>
          <a:p>
            <a:pPr algn="l" marL="548640" indent="-182880" lvl="2">
              <a:lnSpc>
                <a:spcPts val="407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4093895" y="-164973"/>
            <a:ext cx="4194105" cy="10451973"/>
          </a:xfrm>
          <a:custGeom>
            <a:avLst/>
            <a:gdLst/>
            <a:ahLst/>
            <a:cxnLst/>
            <a:rect r="r" b="b" t="t" l="l"/>
            <a:pathLst>
              <a:path h="10451973" w="4194105">
                <a:moveTo>
                  <a:pt x="0" y="0"/>
                </a:moveTo>
                <a:lnTo>
                  <a:pt x="4194105" y="0"/>
                </a:lnTo>
                <a:lnTo>
                  <a:pt x="4194105" y="10451973"/>
                </a:lnTo>
                <a:lnTo>
                  <a:pt x="0" y="10451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138293" y="385362"/>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4">
              <a:extLst>
                <a:ext uri="{96DAC541-7B7A-43D3-8B79-37D633B846F1}">
                  <asvg:svgBlip xmlns:asvg="http://schemas.microsoft.com/office/drawing/2016/SVG/main" r:embed="rId5"/>
                </a:ext>
              </a:extLst>
            </a:blip>
            <a:stretch>
              <a:fillRect l="0" t="-2100" r="0" b="-2100"/>
            </a:stretch>
          </a:blipFill>
        </p:spPr>
      </p:sp>
      <p:sp>
        <p:nvSpPr>
          <p:cNvPr name="Freeform 4" id="4"/>
          <p:cNvSpPr/>
          <p:nvPr/>
        </p:nvSpPr>
        <p:spPr>
          <a:xfrm flipH="false" flipV="false" rot="0">
            <a:off x="331964" y="9671006"/>
            <a:ext cx="1905000" cy="283369"/>
          </a:xfrm>
          <a:custGeom>
            <a:avLst/>
            <a:gdLst/>
            <a:ahLst/>
            <a:cxnLst/>
            <a:rect r="r" b="b" t="t" l="l"/>
            <a:pathLst>
              <a:path h="283369" w="1905000">
                <a:moveTo>
                  <a:pt x="0" y="0"/>
                </a:moveTo>
                <a:lnTo>
                  <a:pt x="1905000" y="0"/>
                </a:lnTo>
                <a:lnTo>
                  <a:pt x="1905000" y="283368"/>
                </a:lnTo>
                <a:lnTo>
                  <a:pt x="0" y="283368"/>
                </a:lnTo>
                <a:lnTo>
                  <a:pt x="0" y="0"/>
                </a:lnTo>
                <a:close/>
              </a:path>
            </a:pathLst>
          </a:custGeom>
          <a:blipFill>
            <a:blip r:embed="rId4">
              <a:extLst>
                <a:ext uri="{96DAC541-7B7A-43D3-8B79-37D633B846F1}">
                  <asvg:svgBlip xmlns:asvg="http://schemas.microsoft.com/office/drawing/2016/SVG/main" r:embed="rId5"/>
                </a:ext>
              </a:extLst>
            </a:blip>
            <a:stretch>
              <a:fillRect l="0" t="-2100" r="0" b="-2100"/>
            </a:stretch>
          </a:blipFill>
        </p:spPr>
      </p:sp>
      <p:sp>
        <p:nvSpPr>
          <p:cNvPr name="TextBox 5" id="5"/>
          <p:cNvSpPr txBox="true"/>
          <p:nvPr/>
        </p:nvSpPr>
        <p:spPr>
          <a:xfrm rot="0">
            <a:off x="4340414" y="4058385"/>
            <a:ext cx="4803586" cy="1085115"/>
          </a:xfrm>
          <a:prstGeom prst="rect">
            <a:avLst/>
          </a:prstGeom>
        </p:spPr>
        <p:txBody>
          <a:bodyPr anchor="t" rtlCol="false" tIns="0" lIns="0" bIns="0" rIns="0">
            <a:spAutoFit/>
          </a:bodyPr>
          <a:lstStyle/>
          <a:p>
            <a:pPr algn="l">
              <a:lnSpc>
                <a:spcPts val="8958"/>
              </a:lnSpc>
            </a:pPr>
            <a:r>
              <a:rPr lang="en-US" b="true" sz="6398" i="true" u="sng">
                <a:solidFill>
                  <a:srgbClr val="0F4662"/>
                </a:solidFill>
                <a:latin typeface="Cormorant Garamond Bold Italics"/>
                <a:ea typeface="Cormorant Garamond Bold Italics"/>
                <a:cs typeface="Cormorant Garamond Bold Italics"/>
                <a:sym typeface="Cormorant Garamond Bold Italics"/>
                <a:hlinkClick r:id="rId6" tooltip="https://drive.google.com/drive/folders/19qkIIfNyNEL41zi2pb7RdEM8P8dwkBjn?usp=drive_link"/>
              </a:rPr>
              <a:t>Eat2Beat Demo</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sp>
        <p:nvSpPr>
          <p:cNvPr name="Freeform 2" id="2"/>
          <p:cNvSpPr/>
          <p:nvPr/>
        </p:nvSpPr>
        <p:spPr>
          <a:xfrm flipH="false" flipV="false" rot="0">
            <a:off x="886306" y="290693"/>
            <a:ext cx="16916067" cy="9728444"/>
          </a:xfrm>
          <a:custGeom>
            <a:avLst/>
            <a:gdLst/>
            <a:ahLst/>
            <a:cxnLst/>
            <a:rect r="r" b="b" t="t" l="l"/>
            <a:pathLst>
              <a:path h="9728444" w="16916067">
                <a:moveTo>
                  <a:pt x="0" y="0"/>
                </a:moveTo>
                <a:lnTo>
                  <a:pt x="16916067" y="0"/>
                </a:lnTo>
                <a:lnTo>
                  <a:pt x="16916067" y="9728445"/>
                </a:lnTo>
                <a:lnTo>
                  <a:pt x="0" y="97284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1128351" y="1040580"/>
          <a:ext cx="16487531" cy="1061531"/>
        </p:xfrm>
        <a:graphic>
          <a:graphicData uri="http://schemas.openxmlformats.org/drawingml/2006/table">
            <a:tbl>
              <a:tblPr/>
              <a:tblGrid>
                <a:gridCol w="2047177"/>
                <a:gridCol w="1904496"/>
                <a:gridCol w="1866371"/>
                <a:gridCol w="1668658"/>
                <a:gridCol w="1873319"/>
                <a:gridCol w="1695618"/>
                <a:gridCol w="1751259"/>
                <a:gridCol w="1751259"/>
                <a:gridCol w="1929373"/>
              </a:tblGrid>
              <a:tr h="1061531">
                <a:tc>
                  <a:txBody>
                    <a:bodyPr anchor="t" rtlCol="false"/>
                    <a:lstStyle/>
                    <a:p>
                      <a:pPr algn="ctr">
                        <a:lnSpc>
                          <a:spcPts val="2940"/>
                        </a:lnSpc>
                        <a:defRPr/>
                      </a:pPr>
                      <a:r>
                        <a:rPr lang="en-US" sz="2100">
                          <a:solidFill>
                            <a:srgbClr val="000000"/>
                          </a:solidFill>
                          <a:latin typeface="Inter"/>
                          <a:ea typeface="Inter"/>
                          <a:cs typeface="Inter"/>
                          <a:sym typeface="Inter"/>
                        </a:rPr>
                        <a:t>OCTOBER</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NOVEMBER</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DECEMBER</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JANUARY</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FEBRUARY</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MARCH</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APRIL</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May</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c>
                  <a:txBody>
                    <a:bodyPr anchor="t" rtlCol="false"/>
                    <a:lstStyle/>
                    <a:p>
                      <a:pPr algn="ctr">
                        <a:lnSpc>
                          <a:spcPts val="2940"/>
                        </a:lnSpc>
                        <a:defRPr/>
                      </a:pPr>
                      <a:r>
                        <a:rPr lang="en-US" sz="2100">
                          <a:solidFill>
                            <a:srgbClr val="000000"/>
                          </a:solidFill>
                          <a:latin typeface="Inter"/>
                          <a:ea typeface="Inter"/>
                          <a:cs typeface="Inter"/>
                          <a:sym typeface="Inter"/>
                        </a:rPr>
                        <a:t>June</a:t>
                      </a:r>
                      <a:endParaRPr lang="en-US" sz="1100"/>
                    </a:p>
                  </a:txBody>
                  <a:tcPr marL="190500" marR="190500" marT="190500" marB="190500" anchor="ctr">
                    <a:lnL cmpd="sng" algn="ctr" cap="flat" w="13048">
                      <a:solidFill>
                        <a:srgbClr val="F8F4F1"/>
                      </a:solidFill>
                      <a:prstDash val="solid"/>
                      <a:round/>
                      <a:headEnd type="none" w="med" len="med"/>
                      <a:tailEnd type="none" w="med" len="med"/>
                    </a:lnL>
                    <a:lnR cmpd="sng" algn="ctr" cap="flat" w="13048">
                      <a:solidFill>
                        <a:srgbClr val="F8F4F1"/>
                      </a:solidFill>
                      <a:prstDash val="solid"/>
                      <a:round/>
                      <a:headEnd type="none" w="med" len="med"/>
                      <a:tailEnd type="none" w="med" len="med"/>
                    </a:lnR>
                    <a:lnT cmpd="sng" algn="ctr" cap="flat" w="13048">
                      <a:solidFill>
                        <a:srgbClr val="F8F4F1"/>
                      </a:solidFill>
                      <a:prstDash val="solid"/>
                      <a:round/>
                      <a:headEnd type="none" w="med" len="med"/>
                      <a:tailEnd type="none" w="med" len="med"/>
                    </a:lnT>
                    <a:lnB cmpd="sng" algn="ctr" cap="flat" w="13048">
                      <a:solidFill>
                        <a:srgbClr val="F8F4F1"/>
                      </a:solidFill>
                      <a:prstDash val="solid"/>
                      <a:round/>
                      <a:headEnd type="none" w="med" len="med"/>
                      <a:tailEnd type="none" w="med" len="med"/>
                    </a:lnB>
                    <a:solidFill>
                      <a:srgbClr val="CADAE6"/>
                    </a:solidFill>
                  </a:tcPr>
                </a:tc>
              </a:tr>
            </a:tbl>
          </a:graphicData>
        </a:graphic>
      </p:graphicFrame>
      <p:grpSp>
        <p:nvGrpSpPr>
          <p:cNvPr name="Group 4" id="4"/>
          <p:cNvGrpSpPr/>
          <p:nvPr/>
        </p:nvGrpSpPr>
        <p:grpSpPr>
          <a:xfrm rot="0">
            <a:off x="2085565" y="2939224"/>
            <a:ext cx="14931628" cy="9525"/>
            <a:chOff x="0" y="0"/>
            <a:chExt cx="19908838" cy="12700"/>
          </a:xfrm>
        </p:grpSpPr>
        <p:sp>
          <p:nvSpPr>
            <p:cNvPr name="Freeform 5" id="5"/>
            <p:cNvSpPr/>
            <p:nvPr/>
          </p:nvSpPr>
          <p:spPr>
            <a:xfrm flipH="false" flipV="false" rot="0">
              <a:off x="0" y="0"/>
              <a:ext cx="19908901" cy="12700"/>
            </a:xfrm>
            <a:custGeom>
              <a:avLst/>
              <a:gdLst/>
              <a:ahLst/>
              <a:cxnLst/>
              <a:rect r="r" b="b" t="t" l="l"/>
              <a:pathLst>
                <a:path h="12700" w="19908901">
                  <a:moveTo>
                    <a:pt x="0" y="0"/>
                  </a:moveTo>
                  <a:lnTo>
                    <a:pt x="19908901" y="12700"/>
                  </a:lnTo>
                </a:path>
              </a:pathLst>
            </a:custGeom>
            <a:blipFill>
              <a:blip r:embed="rId4">
                <a:alphaModFix amt="0"/>
              </a:blip>
              <a:stretch>
                <a:fillRect l="0" t="-30495233" r="0" b="-30495233"/>
              </a:stretch>
            </a:blipFill>
            <a:ln w="9525" cap="sq">
              <a:solidFill>
                <a:srgbClr val="737373"/>
              </a:solidFill>
              <a:prstDash val="solid"/>
              <a:miter/>
            </a:ln>
          </p:spPr>
        </p:sp>
      </p:grpSp>
      <p:sp>
        <p:nvSpPr>
          <p:cNvPr name="Freeform 6" id="6"/>
          <p:cNvSpPr/>
          <p:nvPr/>
        </p:nvSpPr>
        <p:spPr>
          <a:xfrm flipH="false" flipV="false" rot="0">
            <a:off x="2349094" y="2711701"/>
            <a:ext cx="4106608" cy="477764"/>
          </a:xfrm>
          <a:custGeom>
            <a:avLst/>
            <a:gdLst/>
            <a:ahLst/>
            <a:cxnLst/>
            <a:rect r="r" b="b" t="t" l="l"/>
            <a:pathLst>
              <a:path h="477764" w="4106608">
                <a:moveTo>
                  <a:pt x="0" y="0"/>
                </a:moveTo>
                <a:lnTo>
                  <a:pt x="4106608" y="0"/>
                </a:lnTo>
                <a:lnTo>
                  <a:pt x="4106608" y="477764"/>
                </a:lnTo>
                <a:lnTo>
                  <a:pt x="0" y="4777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2057771" y="3950122"/>
            <a:ext cx="14969566" cy="9525"/>
            <a:chOff x="0" y="0"/>
            <a:chExt cx="19959422" cy="12700"/>
          </a:xfrm>
        </p:grpSpPr>
        <p:sp>
          <p:nvSpPr>
            <p:cNvPr name="Freeform 8" id="8"/>
            <p:cNvSpPr/>
            <p:nvPr/>
          </p:nvSpPr>
          <p:spPr>
            <a:xfrm flipH="false" flipV="false" rot="0">
              <a:off x="0" y="0"/>
              <a:ext cx="19959447" cy="12700"/>
            </a:xfrm>
            <a:custGeom>
              <a:avLst/>
              <a:gdLst/>
              <a:ahLst/>
              <a:cxnLst/>
              <a:rect r="r" b="b" t="t" l="l"/>
              <a:pathLst>
                <a:path h="12700" w="19959447">
                  <a:moveTo>
                    <a:pt x="0" y="0"/>
                  </a:moveTo>
                  <a:lnTo>
                    <a:pt x="19959447" y="12700"/>
                  </a:lnTo>
                </a:path>
              </a:pathLst>
            </a:custGeom>
            <a:blipFill>
              <a:blip r:embed="rId4">
                <a:alphaModFix amt="0"/>
              </a:blip>
              <a:stretch>
                <a:fillRect l="0" t="-30572842" r="0" b="-30572842"/>
              </a:stretch>
            </a:blipFill>
            <a:ln w="9525" cap="sq">
              <a:solidFill>
                <a:srgbClr val="737373"/>
              </a:solidFill>
              <a:prstDash val="solid"/>
              <a:miter/>
            </a:ln>
          </p:spPr>
        </p:sp>
      </p:grpSp>
      <p:sp>
        <p:nvSpPr>
          <p:cNvPr name="Freeform 9" id="9"/>
          <p:cNvSpPr/>
          <p:nvPr/>
        </p:nvSpPr>
        <p:spPr>
          <a:xfrm flipH="false" flipV="false" rot="0">
            <a:off x="986123" y="5113753"/>
            <a:ext cx="920153" cy="1370819"/>
          </a:xfrm>
          <a:custGeom>
            <a:avLst/>
            <a:gdLst/>
            <a:ahLst/>
            <a:cxnLst/>
            <a:rect r="r" b="b" t="t" l="l"/>
            <a:pathLst>
              <a:path h="1370819" w="920153">
                <a:moveTo>
                  <a:pt x="0" y="0"/>
                </a:moveTo>
                <a:lnTo>
                  <a:pt x="920153" y="0"/>
                </a:lnTo>
                <a:lnTo>
                  <a:pt x="920153" y="1370819"/>
                </a:lnTo>
                <a:lnTo>
                  <a:pt x="0" y="13708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5400000">
            <a:off x="897293" y="5621731"/>
            <a:ext cx="1245346"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FRONTEND</a:t>
            </a:r>
          </a:p>
        </p:txBody>
      </p:sp>
      <p:grpSp>
        <p:nvGrpSpPr>
          <p:cNvPr name="Group 11" id="11"/>
          <p:cNvGrpSpPr/>
          <p:nvPr/>
        </p:nvGrpSpPr>
        <p:grpSpPr>
          <a:xfrm rot="0">
            <a:off x="2057771" y="5811736"/>
            <a:ext cx="14931628" cy="9525"/>
            <a:chOff x="0" y="0"/>
            <a:chExt cx="19908838" cy="12700"/>
          </a:xfrm>
        </p:grpSpPr>
        <p:sp>
          <p:nvSpPr>
            <p:cNvPr name="Freeform 12" id="12"/>
            <p:cNvSpPr/>
            <p:nvPr/>
          </p:nvSpPr>
          <p:spPr>
            <a:xfrm flipH="false" flipV="false" rot="0">
              <a:off x="0" y="0"/>
              <a:ext cx="19908901" cy="12700"/>
            </a:xfrm>
            <a:custGeom>
              <a:avLst/>
              <a:gdLst/>
              <a:ahLst/>
              <a:cxnLst/>
              <a:rect r="r" b="b" t="t" l="l"/>
              <a:pathLst>
                <a:path h="12700" w="19908901">
                  <a:moveTo>
                    <a:pt x="0" y="0"/>
                  </a:moveTo>
                  <a:lnTo>
                    <a:pt x="19908901" y="12700"/>
                  </a:lnTo>
                </a:path>
              </a:pathLst>
            </a:custGeom>
            <a:blipFill>
              <a:blip r:embed="rId4">
                <a:alphaModFix amt="0"/>
              </a:blip>
              <a:stretch>
                <a:fillRect l="0" t="-30495233" r="0" b="-30495233"/>
              </a:stretch>
            </a:blipFill>
            <a:ln w="9525" cap="sq">
              <a:solidFill>
                <a:srgbClr val="737373"/>
              </a:solidFill>
              <a:prstDash val="solid"/>
              <a:miter/>
            </a:ln>
          </p:spPr>
        </p:sp>
      </p:grpSp>
      <p:sp>
        <p:nvSpPr>
          <p:cNvPr name="Freeform 13" id="13"/>
          <p:cNvSpPr/>
          <p:nvPr/>
        </p:nvSpPr>
        <p:spPr>
          <a:xfrm flipH="false" flipV="false" rot="0">
            <a:off x="2499217" y="3646656"/>
            <a:ext cx="1730207" cy="464572"/>
          </a:xfrm>
          <a:custGeom>
            <a:avLst/>
            <a:gdLst/>
            <a:ahLst/>
            <a:cxnLst/>
            <a:rect r="r" b="b" t="t" l="l"/>
            <a:pathLst>
              <a:path h="464572" w="1730207">
                <a:moveTo>
                  <a:pt x="0" y="0"/>
                </a:moveTo>
                <a:lnTo>
                  <a:pt x="1730207" y="0"/>
                </a:lnTo>
                <a:lnTo>
                  <a:pt x="1730207" y="464572"/>
                </a:lnTo>
                <a:lnTo>
                  <a:pt x="0" y="46457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2562825" y="5577811"/>
            <a:ext cx="3814172" cy="464572"/>
          </a:xfrm>
          <a:custGeom>
            <a:avLst/>
            <a:gdLst/>
            <a:ahLst/>
            <a:cxnLst/>
            <a:rect r="r" b="b" t="t" l="l"/>
            <a:pathLst>
              <a:path h="464572" w="3814172">
                <a:moveTo>
                  <a:pt x="0" y="0"/>
                </a:moveTo>
                <a:lnTo>
                  <a:pt x="3814172" y="0"/>
                </a:lnTo>
                <a:lnTo>
                  <a:pt x="3814172" y="464573"/>
                </a:lnTo>
                <a:lnTo>
                  <a:pt x="0" y="4645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986123" y="6597739"/>
            <a:ext cx="930888" cy="1503121"/>
          </a:xfrm>
          <a:custGeom>
            <a:avLst/>
            <a:gdLst/>
            <a:ahLst/>
            <a:cxnLst/>
            <a:rect r="r" b="b" t="t" l="l"/>
            <a:pathLst>
              <a:path h="1503121" w="930888">
                <a:moveTo>
                  <a:pt x="0" y="0"/>
                </a:moveTo>
                <a:lnTo>
                  <a:pt x="930888" y="0"/>
                </a:lnTo>
                <a:lnTo>
                  <a:pt x="930888" y="1503121"/>
                </a:lnTo>
                <a:lnTo>
                  <a:pt x="0" y="150312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6" id="16"/>
          <p:cNvSpPr txBox="true"/>
          <p:nvPr/>
        </p:nvSpPr>
        <p:spPr>
          <a:xfrm rot="-5400000">
            <a:off x="897293" y="7172773"/>
            <a:ext cx="1245346"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AI</a:t>
            </a:r>
          </a:p>
        </p:txBody>
      </p:sp>
      <p:grpSp>
        <p:nvGrpSpPr>
          <p:cNvPr name="Group 17" id="17"/>
          <p:cNvGrpSpPr/>
          <p:nvPr/>
        </p:nvGrpSpPr>
        <p:grpSpPr>
          <a:xfrm rot="0">
            <a:off x="2020700" y="6811337"/>
            <a:ext cx="14931628" cy="9525"/>
            <a:chOff x="0" y="0"/>
            <a:chExt cx="19908838" cy="12700"/>
          </a:xfrm>
        </p:grpSpPr>
        <p:sp>
          <p:nvSpPr>
            <p:cNvPr name="Freeform 18" id="18"/>
            <p:cNvSpPr/>
            <p:nvPr/>
          </p:nvSpPr>
          <p:spPr>
            <a:xfrm flipH="false" flipV="false" rot="0">
              <a:off x="0" y="0"/>
              <a:ext cx="19908901" cy="12700"/>
            </a:xfrm>
            <a:custGeom>
              <a:avLst/>
              <a:gdLst/>
              <a:ahLst/>
              <a:cxnLst/>
              <a:rect r="r" b="b" t="t" l="l"/>
              <a:pathLst>
                <a:path h="12700" w="19908901">
                  <a:moveTo>
                    <a:pt x="0" y="0"/>
                  </a:moveTo>
                  <a:lnTo>
                    <a:pt x="19908901" y="12700"/>
                  </a:lnTo>
                </a:path>
              </a:pathLst>
            </a:custGeom>
            <a:blipFill>
              <a:blip r:embed="rId4">
                <a:alphaModFix amt="0"/>
              </a:blip>
              <a:stretch>
                <a:fillRect l="0" t="-30495233" r="0" b="-30495233"/>
              </a:stretch>
            </a:blipFill>
            <a:ln w="9525" cap="sq">
              <a:solidFill>
                <a:srgbClr val="737373"/>
              </a:solidFill>
              <a:prstDash val="solid"/>
              <a:miter/>
            </a:ln>
          </p:spPr>
        </p:sp>
      </p:grpSp>
      <p:sp>
        <p:nvSpPr>
          <p:cNvPr name="Freeform 19" id="19"/>
          <p:cNvSpPr/>
          <p:nvPr/>
        </p:nvSpPr>
        <p:spPr>
          <a:xfrm flipH="false" flipV="false" rot="0">
            <a:off x="4203754" y="6532312"/>
            <a:ext cx="4327750" cy="464572"/>
          </a:xfrm>
          <a:custGeom>
            <a:avLst/>
            <a:gdLst/>
            <a:ahLst/>
            <a:cxnLst/>
            <a:rect r="r" b="b" t="t" l="l"/>
            <a:pathLst>
              <a:path h="464572" w="4327750">
                <a:moveTo>
                  <a:pt x="0" y="0"/>
                </a:moveTo>
                <a:lnTo>
                  <a:pt x="4327750" y="0"/>
                </a:lnTo>
                <a:lnTo>
                  <a:pt x="4327750" y="464572"/>
                </a:lnTo>
                <a:lnTo>
                  <a:pt x="0" y="46457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0" id="20"/>
          <p:cNvGrpSpPr/>
          <p:nvPr/>
        </p:nvGrpSpPr>
        <p:grpSpPr>
          <a:xfrm rot="0">
            <a:off x="2033064" y="7330421"/>
            <a:ext cx="14931628" cy="9525"/>
            <a:chOff x="0" y="0"/>
            <a:chExt cx="19908838" cy="12700"/>
          </a:xfrm>
        </p:grpSpPr>
        <p:sp>
          <p:nvSpPr>
            <p:cNvPr name="Freeform 21" id="21"/>
            <p:cNvSpPr/>
            <p:nvPr/>
          </p:nvSpPr>
          <p:spPr>
            <a:xfrm flipH="false" flipV="false" rot="0">
              <a:off x="0" y="0"/>
              <a:ext cx="19908901" cy="12700"/>
            </a:xfrm>
            <a:custGeom>
              <a:avLst/>
              <a:gdLst/>
              <a:ahLst/>
              <a:cxnLst/>
              <a:rect r="r" b="b" t="t" l="l"/>
              <a:pathLst>
                <a:path h="12700" w="19908901">
                  <a:moveTo>
                    <a:pt x="0" y="0"/>
                  </a:moveTo>
                  <a:lnTo>
                    <a:pt x="19908901" y="12700"/>
                  </a:lnTo>
                </a:path>
              </a:pathLst>
            </a:custGeom>
            <a:blipFill>
              <a:blip r:embed="rId4">
                <a:alphaModFix amt="0"/>
              </a:blip>
              <a:stretch>
                <a:fillRect l="0" t="-30495233" r="0" b="-30495233"/>
              </a:stretch>
            </a:blipFill>
            <a:ln w="9525" cap="sq">
              <a:solidFill>
                <a:srgbClr val="737373"/>
              </a:solidFill>
              <a:prstDash val="solid"/>
              <a:miter/>
            </a:ln>
          </p:spPr>
        </p:sp>
      </p:grpSp>
      <p:sp>
        <p:nvSpPr>
          <p:cNvPr name="Freeform 22" id="22"/>
          <p:cNvSpPr/>
          <p:nvPr/>
        </p:nvSpPr>
        <p:spPr>
          <a:xfrm flipH="false" flipV="false" rot="0">
            <a:off x="4203754" y="7125662"/>
            <a:ext cx="4378081" cy="464572"/>
          </a:xfrm>
          <a:custGeom>
            <a:avLst/>
            <a:gdLst/>
            <a:ahLst/>
            <a:cxnLst/>
            <a:rect r="r" b="b" t="t" l="l"/>
            <a:pathLst>
              <a:path h="464572" w="4378081">
                <a:moveTo>
                  <a:pt x="0" y="0"/>
                </a:moveTo>
                <a:lnTo>
                  <a:pt x="4378080" y="0"/>
                </a:lnTo>
                <a:lnTo>
                  <a:pt x="4378080" y="464572"/>
                </a:lnTo>
                <a:lnTo>
                  <a:pt x="0" y="46457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23" id="23"/>
          <p:cNvGrpSpPr/>
          <p:nvPr/>
        </p:nvGrpSpPr>
        <p:grpSpPr>
          <a:xfrm rot="0">
            <a:off x="2085565" y="7791602"/>
            <a:ext cx="14931628" cy="9525"/>
            <a:chOff x="0" y="0"/>
            <a:chExt cx="19908838" cy="12700"/>
          </a:xfrm>
        </p:grpSpPr>
        <p:sp>
          <p:nvSpPr>
            <p:cNvPr name="Freeform 24" id="24"/>
            <p:cNvSpPr/>
            <p:nvPr/>
          </p:nvSpPr>
          <p:spPr>
            <a:xfrm flipH="false" flipV="false" rot="0">
              <a:off x="0" y="0"/>
              <a:ext cx="19908901" cy="12700"/>
            </a:xfrm>
            <a:custGeom>
              <a:avLst/>
              <a:gdLst/>
              <a:ahLst/>
              <a:cxnLst/>
              <a:rect r="r" b="b" t="t" l="l"/>
              <a:pathLst>
                <a:path h="12700" w="19908901">
                  <a:moveTo>
                    <a:pt x="0" y="0"/>
                  </a:moveTo>
                  <a:lnTo>
                    <a:pt x="19908901" y="12700"/>
                  </a:lnTo>
                </a:path>
              </a:pathLst>
            </a:custGeom>
            <a:blipFill>
              <a:blip r:embed="rId4">
                <a:alphaModFix amt="0"/>
              </a:blip>
              <a:stretch>
                <a:fillRect l="0" t="-30495233" r="0" b="-30495233"/>
              </a:stretch>
            </a:blipFill>
            <a:ln w="9525" cap="sq">
              <a:solidFill>
                <a:srgbClr val="737373"/>
              </a:solidFill>
              <a:prstDash val="solid"/>
              <a:miter/>
            </a:ln>
          </p:spPr>
        </p:sp>
      </p:grpSp>
      <p:sp>
        <p:nvSpPr>
          <p:cNvPr name="Freeform 25" id="25"/>
          <p:cNvSpPr/>
          <p:nvPr/>
        </p:nvSpPr>
        <p:spPr>
          <a:xfrm flipH="false" flipV="false" rot="0">
            <a:off x="7270852" y="7617352"/>
            <a:ext cx="6446863" cy="464572"/>
          </a:xfrm>
          <a:custGeom>
            <a:avLst/>
            <a:gdLst/>
            <a:ahLst/>
            <a:cxnLst/>
            <a:rect r="r" b="b" t="t" l="l"/>
            <a:pathLst>
              <a:path h="464572" w="6446863">
                <a:moveTo>
                  <a:pt x="0" y="0"/>
                </a:moveTo>
                <a:lnTo>
                  <a:pt x="6446862" y="0"/>
                </a:lnTo>
                <a:lnTo>
                  <a:pt x="6446862" y="464572"/>
                </a:lnTo>
                <a:lnTo>
                  <a:pt x="0" y="46457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6" id="26"/>
          <p:cNvSpPr/>
          <p:nvPr/>
        </p:nvSpPr>
        <p:spPr>
          <a:xfrm flipH="false" flipV="false" rot="0">
            <a:off x="998477" y="8219446"/>
            <a:ext cx="930888" cy="1503121"/>
          </a:xfrm>
          <a:custGeom>
            <a:avLst/>
            <a:gdLst/>
            <a:ahLst/>
            <a:cxnLst/>
            <a:rect r="r" b="b" t="t" l="l"/>
            <a:pathLst>
              <a:path h="1503121" w="930888">
                <a:moveTo>
                  <a:pt x="0" y="0"/>
                </a:moveTo>
                <a:lnTo>
                  <a:pt x="930888" y="0"/>
                </a:lnTo>
                <a:lnTo>
                  <a:pt x="930888" y="1503122"/>
                </a:lnTo>
                <a:lnTo>
                  <a:pt x="0" y="150312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27" id="27"/>
          <p:cNvSpPr txBox="true"/>
          <p:nvPr/>
        </p:nvSpPr>
        <p:spPr>
          <a:xfrm rot="-5400000">
            <a:off x="909657" y="8815149"/>
            <a:ext cx="1245346"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BACKEND</a:t>
            </a:r>
          </a:p>
        </p:txBody>
      </p:sp>
      <p:grpSp>
        <p:nvGrpSpPr>
          <p:cNvPr name="Group 28" id="28"/>
          <p:cNvGrpSpPr/>
          <p:nvPr/>
        </p:nvGrpSpPr>
        <p:grpSpPr>
          <a:xfrm rot="0">
            <a:off x="2033064" y="8839010"/>
            <a:ext cx="14931628" cy="9525"/>
            <a:chOff x="0" y="0"/>
            <a:chExt cx="19908838" cy="12700"/>
          </a:xfrm>
        </p:grpSpPr>
        <p:sp>
          <p:nvSpPr>
            <p:cNvPr name="Freeform 29" id="29"/>
            <p:cNvSpPr/>
            <p:nvPr/>
          </p:nvSpPr>
          <p:spPr>
            <a:xfrm flipH="false" flipV="false" rot="0">
              <a:off x="0" y="0"/>
              <a:ext cx="19908901" cy="12700"/>
            </a:xfrm>
            <a:custGeom>
              <a:avLst/>
              <a:gdLst/>
              <a:ahLst/>
              <a:cxnLst/>
              <a:rect r="r" b="b" t="t" l="l"/>
              <a:pathLst>
                <a:path h="12700" w="19908901">
                  <a:moveTo>
                    <a:pt x="0" y="0"/>
                  </a:moveTo>
                  <a:lnTo>
                    <a:pt x="19908901" y="12700"/>
                  </a:lnTo>
                </a:path>
              </a:pathLst>
            </a:custGeom>
            <a:blipFill>
              <a:blip r:embed="rId4">
                <a:alphaModFix amt="0"/>
              </a:blip>
              <a:stretch>
                <a:fillRect l="0" t="-30495233" r="0" b="-30495233"/>
              </a:stretch>
            </a:blipFill>
            <a:ln w="9525" cap="sq">
              <a:solidFill>
                <a:srgbClr val="737373"/>
              </a:solidFill>
              <a:prstDash val="solid"/>
              <a:miter/>
            </a:ln>
          </p:spPr>
        </p:sp>
      </p:grpSp>
      <p:sp>
        <p:nvSpPr>
          <p:cNvPr name="Freeform 30" id="30"/>
          <p:cNvSpPr/>
          <p:nvPr/>
        </p:nvSpPr>
        <p:spPr>
          <a:xfrm flipH="false" flipV="false" rot="0">
            <a:off x="8235896" y="8548649"/>
            <a:ext cx="5679824" cy="464572"/>
          </a:xfrm>
          <a:custGeom>
            <a:avLst/>
            <a:gdLst/>
            <a:ahLst/>
            <a:cxnLst/>
            <a:rect r="r" b="b" t="t" l="l"/>
            <a:pathLst>
              <a:path h="464572" w="5679824">
                <a:moveTo>
                  <a:pt x="0" y="0"/>
                </a:moveTo>
                <a:lnTo>
                  <a:pt x="5679824" y="0"/>
                </a:lnTo>
                <a:lnTo>
                  <a:pt x="5679824" y="464573"/>
                </a:lnTo>
                <a:lnTo>
                  <a:pt x="0" y="46457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31" id="31"/>
          <p:cNvSpPr txBox="true"/>
          <p:nvPr/>
        </p:nvSpPr>
        <p:spPr>
          <a:xfrm rot="0">
            <a:off x="4490476" y="6605788"/>
            <a:ext cx="3333198" cy="260480"/>
          </a:xfrm>
          <a:prstGeom prst="rect">
            <a:avLst/>
          </a:prstGeom>
        </p:spPr>
        <p:txBody>
          <a:bodyPr anchor="t" rtlCol="false" tIns="0" lIns="0" bIns="0" rIns="0">
            <a:spAutoFit/>
          </a:bodyPr>
          <a:lstStyle/>
          <a:p>
            <a:pPr algn="ctr">
              <a:lnSpc>
                <a:spcPts val="1917"/>
              </a:lnSpc>
            </a:pPr>
            <a:r>
              <a:rPr lang="en-US" sz="1368" b="true">
                <a:solidFill>
                  <a:srgbClr val="000000"/>
                </a:solidFill>
                <a:latin typeface="Inter Bold"/>
                <a:ea typeface="Inter Bold"/>
                <a:cs typeface="Inter Bold"/>
                <a:sym typeface="Inter Bold"/>
              </a:rPr>
              <a:t>DEMAND PREDECTION</a:t>
            </a:r>
          </a:p>
        </p:txBody>
      </p:sp>
      <p:sp>
        <p:nvSpPr>
          <p:cNvPr name="TextBox 32" id="32"/>
          <p:cNvSpPr txBox="true"/>
          <p:nvPr/>
        </p:nvSpPr>
        <p:spPr>
          <a:xfrm rot="0">
            <a:off x="4341971" y="7190480"/>
            <a:ext cx="4070071" cy="260480"/>
          </a:xfrm>
          <a:prstGeom prst="rect">
            <a:avLst/>
          </a:prstGeom>
        </p:spPr>
        <p:txBody>
          <a:bodyPr anchor="t" rtlCol="false" tIns="0" lIns="0" bIns="0" rIns="0">
            <a:spAutoFit/>
          </a:bodyPr>
          <a:lstStyle/>
          <a:p>
            <a:pPr algn="ctr">
              <a:lnSpc>
                <a:spcPts val="1917"/>
              </a:lnSpc>
            </a:pPr>
            <a:r>
              <a:rPr lang="en-US" sz="1368" b="true">
                <a:solidFill>
                  <a:srgbClr val="000000"/>
                </a:solidFill>
                <a:latin typeface="Inter Bold"/>
                <a:ea typeface="Inter Bold"/>
                <a:cs typeface="Inter Bold"/>
                <a:sym typeface="Inter Bold"/>
              </a:rPr>
              <a:t>RECOMMENDATION SYSTEM</a:t>
            </a:r>
          </a:p>
        </p:txBody>
      </p:sp>
      <p:sp>
        <p:nvSpPr>
          <p:cNvPr name="TextBox 33" id="33"/>
          <p:cNvSpPr txBox="true"/>
          <p:nvPr/>
        </p:nvSpPr>
        <p:spPr>
          <a:xfrm rot="0">
            <a:off x="9040711" y="7690818"/>
            <a:ext cx="2530345" cy="260480"/>
          </a:xfrm>
          <a:prstGeom prst="rect">
            <a:avLst/>
          </a:prstGeom>
        </p:spPr>
        <p:txBody>
          <a:bodyPr anchor="t" rtlCol="false" tIns="0" lIns="0" bIns="0" rIns="0">
            <a:spAutoFit/>
          </a:bodyPr>
          <a:lstStyle/>
          <a:p>
            <a:pPr algn="ctr">
              <a:lnSpc>
                <a:spcPts val="1917"/>
              </a:lnSpc>
            </a:pPr>
            <a:r>
              <a:rPr lang="en-US" sz="1368" b="true">
                <a:solidFill>
                  <a:srgbClr val="000000"/>
                </a:solidFill>
                <a:latin typeface="Inter Bold"/>
                <a:ea typeface="Inter Bold"/>
                <a:cs typeface="Inter Bold"/>
                <a:sym typeface="Inter Bold"/>
              </a:rPr>
              <a:t>CHATBOT</a:t>
            </a:r>
          </a:p>
        </p:txBody>
      </p:sp>
      <p:sp>
        <p:nvSpPr>
          <p:cNvPr name="Freeform 34" id="34"/>
          <p:cNvSpPr/>
          <p:nvPr/>
        </p:nvSpPr>
        <p:spPr>
          <a:xfrm flipH="false" flipV="false" rot="0">
            <a:off x="6872087" y="5545303"/>
            <a:ext cx="4685767" cy="464572"/>
          </a:xfrm>
          <a:custGeom>
            <a:avLst/>
            <a:gdLst/>
            <a:ahLst/>
            <a:cxnLst/>
            <a:rect r="r" b="b" t="t" l="l"/>
            <a:pathLst>
              <a:path h="464572" w="4685767">
                <a:moveTo>
                  <a:pt x="0" y="0"/>
                </a:moveTo>
                <a:lnTo>
                  <a:pt x="4685767" y="0"/>
                </a:lnTo>
                <a:lnTo>
                  <a:pt x="4685767" y="464572"/>
                </a:lnTo>
                <a:lnTo>
                  <a:pt x="0" y="464572"/>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35" id="35"/>
          <p:cNvSpPr/>
          <p:nvPr/>
        </p:nvSpPr>
        <p:spPr>
          <a:xfrm flipH="false" flipV="false" rot="0">
            <a:off x="2095529" y="8583139"/>
            <a:ext cx="5679824" cy="464572"/>
          </a:xfrm>
          <a:custGeom>
            <a:avLst/>
            <a:gdLst/>
            <a:ahLst/>
            <a:cxnLst/>
            <a:rect r="r" b="b" t="t" l="l"/>
            <a:pathLst>
              <a:path h="464572" w="5679824">
                <a:moveTo>
                  <a:pt x="0" y="0"/>
                </a:moveTo>
                <a:lnTo>
                  <a:pt x="5679824" y="0"/>
                </a:lnTo>
                <a:lnTo>
                  <a:pt x="5679824" y="464573"/>
                </a:lnTo>
                <a:lnTo>
                  <a:pt x="0" y="46457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6" id="36"/>
          <p:cNvSpPr/>
          <p:nvPr/>
        </p:nvSpPr>
        <p:spPr>
          <a:xfrm flipH="false" flipV="false" rot="0">
            <a:off x="1128351" y="2311660"/>
            <a:ext cx="947842" cy="913476"/>
          </a:xfrm>
          <a:custGeom>
            <a:avLst/>
            <a:gdLst/>
            <a:ahLst/>
            <a:cxnLst/>
            <a:rect r="r" b="b" t="t" l="l"/>
            <a:pathLst>
              <a:path h="913476" w="947842">
                <a:moveTo>
                  <a:pt x="0" y="0"/>
                </a:moveTo>
                <a:lnTo>
                  <a:pt x="947842" y="0"/>
                </a:lnTo>
                <a:lnTo>
                  <a:pt x="947842" y="913476"/>
                </a:lnTo>
                <a:lnTo>
                  <a:pt x="0" y="913476"/>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37" id="37"/>
          <p:cNvSpPr/>
          <p:nvPr/>
        </p:nvSpPr>
        <p:spPr>
          <a:xfrm flipH="false" flipV="false" rot="0">
            <a:off x="1128351" y="3564160"/>
            <a:ext cx="947842" cy="1410348"/>
          </a:xfrm>
          <a:custGeom>
            <a:avLst/>
            <a:gdLst/>
            <a:ahLst/>
            <a:cxnLst/>
            <a:rect r="r" b="b" t="t" l="l"/>
            <a:pathLst>
              <a:path h="1410348" w="947842">
                <a:moveTo>
                  <a:pt x="0" y="0"/>
                </a:moveTo>
                <a:lnTo>
                  <a:pt x="947842" y="0"/>
                </a:lnTo>
                <a:lnTo>
                  <a:pt x="947842" y="1410347"/>
                </a:lnTo>
                <a:lnTo>
                  <a:pt x="0" y="1410347"/>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TextBox 38" id="38"/>
          <p:cNvSpPr txBox="true"/>
          <p:nvPr/>
        </p:nvSpPr>
        <p:spPr>
          <a:xfrm rot="-5400000">
            <a:off x="898093" y="4113476"/>
            <a:ext cx="1245346"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FLUTTER</a:t>
            </a:r>
          </a:p>
        </p:txBody>
      </p:sp>
      <p:grpSp>
        <p:nvGrpSpPr>
          <p:cNvPr name="Group 39" id="39"/>
          <p:cNvGrpSpPr/>
          <p:nvPr/>
        </p:nvGrpSpPr>
        <p:grpSpPr>
          <a:xfrm rot="0">
            <a:off x="2085565" y="4810430"/>
            <a:ext cx="14931628" cy="9525"/>
            <a:chOff x="0" y="0"/>
            <a:chExt cx="19908838" cy="12700"/>
          </a:xfrm>
        </p:grpSpPr>
        <p:sp>
          <p:nvSpPr>
            <p:cNvPr name="Freeform 40" id="40"/>
            <p:cNvSpPr/>
            <p:nvPr/>
          </p:nvSpPr>
          <p:spPr>
            <a:xfrm flipH="false" flipV="false" rot="0">
              <a:off x="0" y="0"/>
              <a:ext cx="19908901" cy="12700"/>
            </a:xfrm>
            <a:custGeom>
              <a:avLst/>
              <a:gdLst/>
              <a:ahLst/>
              <a:cxnLst/>
              <a:rect r="r" b="b" t="t" l="l"/>
              <a:pathLst>
                <a:path h="12700" w="19908901">
                  <a:moveTo>
                    <a:pt x="0" y="0"/>
                  </a:moveTo>
                  <a:lnTo>
                    <a:pt x="19908901" y="12700"/>
                  </a:lnTo>
                </a:path>
              </a:pathLst>
            </a:custGeom>
            <a:blipFill>
              <a:blip r:embed="rId4">
                <a:alphaModFix amt="0"/>
              </a:blip>
              <a:stretch>
                <a:fillRect l="0" t="-30495233" r="0" b="-30495233"/>
              </a:stretch>
            </a:blipFill>
            <a:ln w="9525" cap="sq">
              <a:solidFill>
                <a:srgbClr val="737373"/>
              </a:solidFill>
              <a:prstDash val="solid"/>
              <a:miter/>
            </a:ln>
          </p:spPr>
        </p:sp>
      </p:grpSp>
      <p:sp>
        <p:nvSpPr>
          <p:cNvPr name="TextBox 41" id="41"/>
          <p:cNvSpPr txBox="true"/>
          <p:nvPr/>
        </p:nvSpPr>
        <p:spPr>
          <a:xfrm rot="-5400000">
            <a:off x="1355112" y="2646293"/>
            <a:ext cx="283654"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UI</a:t>
            </a:r>
          </a:p>
        </p:txBody>
      </p:sp>
      <p:sp>
        <p:nvSpPr>
          <p:cNvPr name="Freeform 42" id="42"/>
          <p:cNvSpPr/>
          <p:nvPr/>
        </p:nvSpPr>
        <p:spPr>
          <a:xfrm flipH="false" flipV="false" rot="0">
            <a:off x="4341962" y="3589085"/>
            <a:ext cx="3181388" cy="558415"/>
          </a:xfrm>
          <a:custGeom>
            <a:avLst/>
            <a:gdLst/>
            <a:ahLst/>
            <a:cxnLst/>
            <a:rect r="r" b="b" t="t" l="l"/>
            <a:pathLst>
              <a:path h="558415" w="3181388">
                <a:moveTo>
                  <a:pt x="0" y="0"/>
                </a:moveTo>
                <a:lnTo>
                  <a:pt x="3181388" y="0"/>
                </a:lnTo>
                <a:lnTo>
                  <a:pt x="3181388" y="558416"/>
                </a:lnTo>
                <a:lnTo>
                  <a:pt x="0" y="558416"/>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43" id="43"/>
          <p:cNvSpPr/>
          <p:nvPr/>
        </p:nvSpPr>
        <p:spPr>
          <a:xfrm flipH="false" flipV="false" rot="0">
            <a:off x="8612829" y="4427430"/>
            <a:ext cx="3438249" cy="464572"/>
          </a:xfrm>
          <a:custGeom>
            <a:avLst/>
            <a:gdLst/>
            <a:ahLst/>
            <a:cxnLst/>
            <a:rect r="r" b="b" t="t" l="l"/>
            <a:pathLst>
              <a:path h="464572" w="3438249">
                <a:moveTo>
                  <a:pt x="0" y="0"/>
                </a:moveTo>
                <a:lnTo>
                  <a:pt x="3438249" y="0"/>
                </a:lnTo>
                <a:lnTo>
                  <a:pt x="3438249" y="464572"/>
                </a:lnTo>
                <a:lnTo>
                  <a:pt x="0" y="464572"/>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44" id="44"/>
          <p:cNvSpPr/>
          <p:nvPr/>
        </p:nvSpPr>
        <p:spPr>
          <a:xfrm flipH="false" flipV="false" rot="0">
            <a:off x="5044250" y="4509935"/>
            <a:ext cx="2646750" cy="464572"/>
          </a:xfrm>
          <a:custGeom>
            <a:avLst/>
            <a:gdLst/>
            <a:ahLst/>
            <a:cxnLst/>
            <a:rect r="r" b="b" t="t" l="l"/>
            <a:pathLst>
              <a:path h="464572" w="2646750">
                <a:moveTo>
                  <a:pt x="0" y="0"/>
                </a:moveTo>
                <a:lnTo>
                  <a:pt x="2646749" y="0"/>
                </a:lnTo>
                <a:lnTo>
                  <a:pt x="2646749" y="464572"/>
                </a:lnTo>
                <a:lnTo>
                  <a:pt x="0" y="464572"/>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45" id="45"/>
          <p:cNvSpPr/>
          <p:nvPr/>
        </p:nvSpPr>
        <p:spPr>
          <a:xfrm flipH="false" flipV="false" rot="0">
            <a:off x="3124314" y="4509935"/>
            <a:ext cx="1730207" cy="464572"/>
          </a:xfrm>
          <a:custGeom>
            <a:avLst/>
            <a:gdLst/>
            <a:ahLst/>
            <a:cxnLst/>
            <a:rect r="r" b="b" t="t" l="l"/>
            <a:pathLst>
              <a:path h="464572" w="1730207">
                <a:moveTo>
                  <a:pt x="0" y="0"/>
                </a:moveTo>
                <a:lnTo>
                  <a:pt x="1730207" y="0"/>
                </a:lnTo>
                <a:lnTo>
                  <a:pt x="1730207" y="464572"/>
                </a:lnTo>
                <a:lnTo>
                  <a:pt x="0" y="46457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6" id="46"/>
          <p:cNvSpPr/>
          <p:nvPr/>
        </p:nvSpPr>
        <p:spPr>
          <a:xfrm flipH="false" flipV="false" rot="0">
            <a:off x="7775353" y="3594458"/>
            <a:ext cx="2357284" cy="632947"/>
          </a:xfrm>
          <a:custGeom>
            <a:avLst/>
            <a:gdLst/>
            <a:ahLst/>
            <a:cxnLst/>
            <a:rect r="r" b="b" t="t" l="l"/>
            <a:pathLst>
              <a:path h="632947" w="2357284">
                <a:moveTo>
                  <a:pt x="0" y="0"/>
                </a:moveTo>
                <a:lnTo>
                  <a:pt x="2357284" y="0"/>
                </a:lnTo>
                <a:lnTo>
                  <a:pt x="2357284" y="632947"/>
                </a:lnTo>
                <a:lnTo>
                  <a:pt x="0" y="6329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7" id="47"/>
          <p:cNvSpPr txBox="true"/>
          <p:nvPr/>
        </p:nvSpPr>
        <p:spPr>
          <a:xfrm rot="0">
            <a:off x="629288" y="-170745"/>
            <a:ext cx="10326595" cy="1199445"/>
          </a:xfrm>
          <a:prstGeom prst="rect">
            <a:avLst/>
          </a:prstGeom>
        </p:spPr>
        <p:txBody>
          <a:bodyPr anchor="t" rtlCol="false" tIns="0" lIns="0" bIns="0" rIns="0">
            <a:spAutoFit/>
          </a:bodyPr>
          <a:lstStyle/>
          <a:p>
            <a:pPr algn="l">
              <a:lnSpc>
                <a:spcPts val="8958"/>
              </a:lnSpc>
            </a:pPr>
            <a:r>
              <a:rPr lang="en-US" b="true" sz="6398" i="true">
                <a:solidFill>
                  <a:srgbClr val="0F4662"/>
                </a:solidFill>
                <a:latin typeface="Cormorant Garamond Bold Italics"/>
                <a:ea typeface="Cormorant Garamond Bold Italics"/>
                <a:cs typeface="Cormorant Garamond Bold Italics"/>
                <a:sym typeface="Cormorant Garamond Bold Italics"/>
              </a:rPr>
              <a:t> Project Time Plan</a:t>
            </a:r>
          </a:p>
        </p:txBody>
      </p:sp>
      <p:sp>
        <p:nvSpPr>
          <p:cNvPr name="TextBox 48" id="48"/>
          <p:cNvSpPr txBox="true"/>
          <p:nvPr/>
        </p:nvSpPr>
        <p:spPr>
          <a:xfrm rot="0">
            <a:off x="2832144" y="3693385"/>
            <a:ext cx="1245346"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SPLASH</a:t>
            </a:r>
          </a:p>
        </p:txBody>
      </p:sp>
      <p:sp>
        <p:nvSpPr>
          <p:cNvPr name="TextBox 49" id="49"/>
          <p:cNvSpPr txBox="true"/>
          <p:nvPr/>
        </p:nvSpPr>
        <p:spPr>
          <a:xfrm rot="0">
            <a:off x="3419227" y="4548264"/>
            <a:ext cx="1245346"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AUTH</a:t>
            </a:r>
          </a:p>
        </p:txBody>
      </p:sp>
      <p:sp>
        <p:nvSpPr>
          <p:cNvPr name="TextBox 50" id="50"/>
          <p:cNvSpPr txBox="true"/>
          <p:nvPr/>
        </p:nvSpPr>
        <p:spPr>
          <a:xfrm rot="0">
            <a:off x="4664573" y="3702682"/>
            <a:ext cx="2545794"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CART - SEARCH - OFFER</a:t>
            </a:r>
          </a:p>
        </p:txBody>
      </p:sp>
      <p:sp>
        <p:nvSpPr>
          <p:cNvPr name="TextBox 51" id="51"/>
          <p:cNvSpPr txBox="true"/>
          <p:nvPr/>
        </p:nvSpPr>
        <p:spPr>
          <a:xfrm rot="0">
            <a:off x="5327618" y="4574915"/>
            <a:ext cx="2256168"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IMPACT - DONATION</a:t>
            </a:r>
          </a:p>
        </p:txBody>
      </p:sp>
      <p:sp>
        <p:nvSpPr>
          <p:cNvPr name="TextBox 52" id="52"/>
          <p:cNvSpPr txBox="true"/>
          <p:nvPr/>
        </p:nvSpPr>
        <p:spPr>
          <a:xfrm rot="0">
            <a:off x="8433249" y="3734714"/>
            <a:ext cx="1245346" cy="27358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PROFILE</a:t>
            </a:r>
          </a:p>
        </p:txBody>
      </p:sp>
      <p:sp>
        <p:nvSpPr>
          <p:cNvPr name="TextBox 53" id="53"/>
          <p:cNvSpPr txBox="true"/>
          <p:nvPr/>
        </p:nvSpPr>
        <p:spPr>
          <a:xfrm rot="0">
            <a:off x="9040711" y="4457157"/>
            <a:ext cx="2758640"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NOTIFICATION - CHATBOT</a:t>
            </a:r>
          </a:p>
        </p:txBody>
      </p:sp>
      <p:sp>
        <p:nvSpPr>
          <p:cNvPr name="TextBox 54" id="54"/>
          <p:cNvSpPr txBox="true"/>
          <p:nvPr/>
        </p:nvSpPr>
        <p:spPr>
          <a:xfrm rot="0">
            <a:off x="2675363" y="2793397"/>
            <a:ext cx="3333198" cy="260480"/>
          </a:xfrm>
          <a:prstGeom prst="rect">
            <a:avLst/>
          </a:prstGeom>
        </p:spPr>
        <p:txBody>
          <a:bodyPr anchor="t" rtlCol="false" tIns="0" lIns="0" bIns="0" rIns="0">
            <a:spAutoFit/>
          </a:bodyPr>
          <a:lstStyle/>
          <a:p>
            <a:pPr algn="ctr">
              <a:lnSpc>
                <a:spcPts val="1917"/>
              </a:lnSpc>
            </a:pPr>
            <a:r>
              <a:rPr lang="en-US" sz="1368" b="true">
                <a:solidFill>
                  <a:srgbClr val="000000"/>
                </a:solidFill>
                <a:latin typeface="Inter Bold"/>
                <a:ea typeface="Inter Bold"/>
                <a:cs typeface="Inter Bold"/>
                <a:sym typeface="Inter Bold"/>
              </a:rPr>
              <a:t>DESIGN</a:t>
            </a:r>
          </a:p>
        </p:txBody>
      </p:sp>
      <p:sp>
        <p:nvSpPr>
          <p:cNvPr name="TextBox 55" id="55"/>
          <p:cNvSpPr txBox="true"/>
          <p:nvPr/>
        </p:nvSpPr>
        <p:spPr>
          <a:xfrm rot="0">
            <a:off x="3782787" y="5660307"/>
            <a:ext cx="1763582"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SPLASH + AUTH</a:t>
            </a:r>
          </a:p>
        </p:txBody>
      </p:sp>
      <p:sp>
        <p:nvSpPr>
          <p:cNvPr name="TextBox 56" id="56"/>
          <p:cNvSpPr txBox="true"/>
          <p:nvPr/>
        </p:nvSpPr>
        <p:spPr>
          <a:xfrm rot="0">
            <a:off x="6872087" y="5622541"/>
            <a:ext cx="4840710" cy="31171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HOME - ADMIN DASHBOARD - CHARITY</a:t>
            </a:r>
          </a:p>
        </p:txBody>
      </p:sp>
      <p:sp>
        <p:nvSpPr>
          <p:cNvPr name="TextBox 57" id="57"/>
          <p:cNvSpPr txBox="true"/>
          <p:nvPr/>
        </p:nvSpPr>
        <p:spPr>
          <a:xfrm rot="0">
            <a:off x="3062811" y="8684962"/>
            <a:ext cx="3583419" cy="260480"/>
          </a:xfrm>
          <a:prstGeom prst="rect">
            <a:avLst/>
          </a:prstGeom>
        </p:spPr>
        <p:txBody>
          <a:bodyPr anchor="t" rtlCol="false" tIns="0" lIns="0" bIns="0" rIns="0">
            <a:spAutoFit/>
          </a:bodyPr>
          <a:lstStyle/>
          <a:p>
            <a:pPr algn="ctr">
              <a:lnSpc>
                <a:spcPts val="1917"/>
              </a:lnSpc>
            </a:pPr>
            <a:r>
              <a:rPr lang="en-US" sz="1368" b="true">
                <a:solidFill>
                  <a:srgbClr val="000000"/>
                </a:solidFill>
                <a:latin typeface="Inter Bold"/>
                <a:ea typeface="Inter Bold"/>
                <a:cs typeface="Inter Bold"/>
                <a:sym typeface="Inter Bold"/>
              </a:rPr>
              <a:t>AUTH - DATABASE</a:t>
            </a:r>
          </a:p>
        </p:txBody>
      </p:sp>
      <p:sp>
        <p:nvSpPr>
          <p:cNvPr name="TextBox 58" id="58"/>
          <p:cNvSpPr txBox="true"/>
          <p:nvPr/>
        </p:nvSpPr>
        <p:spPr>
          <a:xfrm rot="0">
            <a:off x="9344339" y="8615324"/>
            <a:ext cx="3583419" cy="260480"/>
          </a:xfrm>
          <a:prstGeom prst="rect">
            <a:avLst/>
          </a:prstGeom>
        </p:spPr>
        <p:txBody>
          <a:bodyPr anchor="t" rtlCol="false" tIns="0" lIns="0" bIns="0" rIns="0">
            <a:spAutoFit/>
          </a:bodyPr>
          <a:lstStyle/>
          <a:p>
            <a:pPr algn="ctr">
              <a:lnSpc>
                <a:spcPts val="1917"/>
              </a:lnSpc>
            </a:pPr>
            <a:r>
              <a:rPr lang="en-US" sz="1368" b="true">
                <a:solidFill>
                  <a:srgbClr val="000000"/>
                </a:solidFill>
                <a:latin typeface="Inter Bold"/>
                <a:ea typeface="Inter Bold"/>
                <a:cs typeface="Inter Bold"/>
                <a:sym typeface="Inter Bold"/>
              </a:rPr>
              <a:t>STORAGE</a:t>
            </a:r>
          </a:p>
        </p:txBody>
      </p:sp>
      <p:sp>
        <p:nvSpPr>
          <p:cNvPr name="Freeform 59" id="59"/>
          <p:cNvSpPr/>
          <p:nvPr/>
        </p:nvSpPr>
        <p:spPr>
          <a:xfrm flipH="false" flipV="false" rot="0">
            <a:off x="14320599" y="8611486"/>
            <a:ext cx="2895876" cy="464572"/>
          </a:xfrm>
          <a:custGeom>
            <a:avLst/>
            <a:gdLst/>
            <a:ahLst/>
            <a:cxnLst/>
            <a:rect r="r" b="b" t="t" l="l"/>
            <a:pathLst>
              <a:path h="464572" w="2895876">
                <a:moveTo>
                  <a:pt x="0" y="0"/>
                </a:moveTo>
                <a:lnTo>
                  <a:pt x="2895877" y="0"/>
                </a:lnTo>
                <a:lnTo>
                  <a:pt x="2895877" y="464572"/>
                </a:lnTo>
                <a:lnTo>
                  <a:pt x="0" y="464572"/>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TextBox 60" id="60"/>
          <p:cNvSpPr txBox="true"/>
          <p:nvPr/>
        </p:nvSpPr>
        <p:spPr>
          <a:xfrm rot="0">
            <a:off x="14064901" y="8684962"/>
            <a:ext cx="3583419" cy="260480"/>
          </a:xfrm>
          <a:prstGeom prst="rect">
            <a:avLst/>
          </a:prstGeom>
        </p:spPr>
        <p:txBody>
          <a:bodyPr anchor="t" rtlCol="false" tIns="0" lIns="0" bIns="0" rIns="0">
            <a:spAutoFit/>
          </a:bodyPr>
          <a:lstStyle/>
          <a:p>
            <a:pPr algn="ctr">
              <a:lnSpc>
                <a:spcPts val="1917"/>
              </a:lnSpc>
            </a:pPr>
            <a:r>
              <a:rPr lang="en-US" sz="1368" b="true">
                <a:solidFill>
                  <a:srgbClr val="000000"/>
                </a:solidFill>
                <a:latin typeface="Inter Bold"/>
                <a:ea typeface="Inter Bold"/>
                <a:cs typeface="Inter Bold"/>
                <a:sym typeface="Inter Bold"/>
              </a:rPr>
              <a:t>API</a:t>
            </a:r>
          </a:p>
        </p:txBody>
      </p:sp>
      <p:sp>
        <p:nvSpPr>
          <p:cNvPr name="Freeform 61" id="61"/>
          <p:cNvSpPr/>
          <p:nvPr/>
        </p:nvSpPr>
        <p:spPr>
          <a:xfrm flipH="false" flipV="false" rot="0">
            <a:off x="12174795" y="3564160"/>
            <a:ext cx="2357284" cy="632947"/>
          </a:xfrm>
          <a:custGeom>
            <a:avLst/>
            <a:gdLst/>
            <a:ahLst/>
            <a:cxnLst/>
            <a:rect r="r" b="b" t="t" l="l"/>
            <a:pathLst>
              <a:path h="632947" w="2357284">
                <a:moveTo>
                  <a:pt x="0" y="0"/>
                </a:moveTo>
                <a:lnTo>
                  <a:pt x="2357284" y="0"/>
                </a:lnTo>
                <a:lnTo>
                  <a:pt x="2357284" y="632947"/>
                </a:lnTo>
                <a:lnTo>
                  <a:pt x="0" y="6329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2" id="62"/>
          <p:cNvSpPr txBox="true"/>
          <p:nvPr/>
        </p:nvSpPr>
        <p:spPr>
          <a:xfrm rot="0">
            <a:off x="12723437" y="3693385"/>
            <a:ext cx="1494462" cy="306673"/>
          </a:xfrm>
          <a:prstGeom prst="rect">
            <a:avLst/>
          </a:prstGeom>
        </p:spPr>
        <p:txBody>
          <a:bodyPr anchor="t" rtlCol="false" tIns="0" lIns="0" bIns="0" rIns="0">
            <a:spAutoFit/>
          </a:bodyPr>
          <a:lstStyle/>
          <a:p>
            <a:pPr algn="ctr">
              <a:lnSpc>
                <a:spcPts val="2519"/>
              </a:lnSpc>
            </a:pPr>
            <a:r>
              <a:rPr lang="en-US" sz="1798" b="true">
                <a:solidFill>
                  <a:srgbClr val="000000"/>
                </a:solidFill>
                <a:latin typeface="Inter Bold"/>
                <a:ea typeface="Inter Bold"/>
                <a:cs typeface="Inter Bold"/>
                <a:sym typeface="Inter Bold"/>
              </a:rPr>
              <a:t>charity flow</a:t>
            </a:r>
          </a:p>
        </p:txBody>
      </p:sp>
      <p:sp>
        <p:nvSpPr>
          <p:cNvPr name="Freeform 63" id="63"/>
          <p:cNvSpPr/>
          <p:nvPr/>
        </p:nvSpPr>
        <p:spPr>
          <a:xfrm flipH="false" flipV="false" rot="0">
            <a:off x="14320599" y="3527630"/>
            <a:ext cx="2530292" cy="679401"/>
          </a:xfrm>
          <a:custGeom>
            <a:avLst/>
            <a:gdLst/>
            <a:ahLst/>
            <a:cxnLst/>
            <a:rect r="r" b="b" t="t" l="l"/>
            <a:pathLst>
              <a:path h="679401" w="2530292">
                <a:moveTo>
                  <a:pt x="0" y="0"/>
                </a:moveTo>
                <a:lnTo>
                  <a:pt x="2530292" y="0"/>
                </a:lnTo>
                <a:lnTo>
                  <a:pt x="2530292" y="679400"/>
                </a:lnTo>
                <a:lnTo>
                  <a:pt x="0" y="679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4" id="64"/>
          <p:cNvSpPr txBox="true"/>
          <p:nvPr/>
        </p:nvSpPr>
        <p:spPr>
          <a:xfrm rot="0">
            <a:off x="14798779" y="3693385"/>
            <a:ext cx="1879104" cy="306673"/>
          </a:xfrm>
          <a:prstGeom prst="rect">
            <a:avLst/>
          </a:prstGeom>
        </p:spPr>
        <p:txBody>
          <a:bodyPr anchor="t" rtlCol="false" tIns="0" lIns="0" bIns="0" rIns="0">
            <a:spAutoFit/>
          </a:bodyPr>
          <a:lstStyle/>
          <a:p>
            <a:pPr algn="ctr">
              <a:lnSpc>
                <a:spcPts val="2519"/>
              </a:lnSpc>
            </a:pPr>
            <a:r>
              <a:rPr lang="en-US" sz="1798" b="true">
                <a:solidFill>
                  <a:srgbClr val="000000"/>
                </a:solidFill>
                <a:latin typeface="Inter Bold"/>
                <a:ea typeface="Inter Bold"/>
                <a:cs typeface="Inter Bold"/>
                <a:sym typeface="Inter Bold"/>
              </a:rPr>
              <a:t>Resturant Flow</a:t>
            </a:r>
          </a:p>
        </p:txBody>
      </p:sp>
      <p:sp>
        <p:nvSpPr>
          <p:cNvPr name="Freeform 65" id="65"/>
          <p:cNvSpPr/>
          <p:nvPr/>
        </p:nvSpPr>
        <p:spPr>
          <a:xfrm flipH="false" flipV="false" rot="0">
            <a:off x="13228461" y="4343242"/>
            <a:ext cx="2357284" cy="632947"/>
          </a:xfrm>
          <a:custGeom>
            <a:avLst/>
            <a:gdLst/>
            <a:ahLst/>
            <a:cxnLst/>
            <a:rect r="r" b="b" t="t" l="l"/>
            <a:pathLst>
              <a:path h="632947" w="2357284">
                <a:moveTo>
                  <a:pt x="0" y="0"/>
                </a:moveTo>
                <a:lnTo>
                  <a:pt x="2357284" y="0"/>
                </a:lnTo>
                <a:lnTo>
                  <a:pt x="2357284" y="632947"/>
                </a:lnTo>
                <a:lnTo>
                  <a:pt x="0" y="6329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6" id="66"/>
          <p:cNvSpPr txBox="true"/>
          <p:nvPr/>
        </p:nvSpPr>
        <p:spPr>
          <a:xfrm rot="0">
            <a:off x="13909406" y="4457172"/>
            <a:ext cx="1245346" cy="273585"/>
          </a:xfrm>
          <a:prstGeom prst="rect">
            <a:avLst/>
          </a:prstGeom>
        </p:spPr>
        <p:txBody>
          <a:bodyPr anchor="t" rtlCol="false" tIns="0" lIns="0" bIns="0" rIns="0">
            <a:spAutoFit/>
          </a:bodyPr>
          <a:lstStyle/>
          <a:p>
            <a:pPr algn="ctr">
              <a:lnSpc>
                <a:spcPts val="2238"/>
              </a:lnSpc>
            </a:pPr>
            <a:r>
              <a:rPr lang="en-US" sz="1599" b="true">
                <a:solidFill>
                  <a:srgbClr val="000000"/>
                </a:solidFill>
                <a:latin typeface="Inter Bold"/>
                <a:ea typeface="Inter Bold"/>
                <a:cs typeface="Inter Bold"/>
                <a:sym typeface="Inter Bold"/>
              </a:rPr>
              <a:t>API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06" y="3007709"/>
            <a:ext cx="11402578" cy="3547672"/>
          </a:xfrm>
          <a:prstGeom prst="rect">
            <a:avLst/>
          </a:prstGeom>
        </p:spPr>
        <p:txBody>
          <a:bodyPr anchor="t" rtlCol="false" tIns="0" lIns="0" bIns="0" rIns="0">
            <a:spAutoFit/>
          </a:bodyPr>
          <a:lstStyle/>
          <a:p>
            <a:pPr algn="ctr">
              <a:lnSpc>
                <a:spcPts val="26008"/>
              </a:lnSpc>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a:t>
            </a:r>
          </a:p>
        </p:txBody>
      </p:sp>
      <p:grpSp>
        <p:nvGrpSpPr>
          <p:cNvPr name="Group 3" id="3"/>
          <p:cNvGrpSpPr/>
          <p:nvPr/>
        </p:nvGrpSpPr>
        <p:grpSpPr>
          <a:xfrm rot="0">
            <a:off x="5859780" y="2176986"/>
            <a:ext cx="6568440" cy="76200"/>
            <a:chOff x="0" y="0"/>
            <a:chExt cx="8757920" cy="101600"/>
          </a:xfrm>
        </p:grpSpPr>
        <p:sp>
          <p:nvSpPr>
            <p:cNvPr name="Freeform 4" id="4"/>
            <p:cNvSpPr/>
            <p:nvPr/>
          </p:nvSpPr>
          <p:spPr>
            <a:xfrm flipH="false" flipV="false" rot="0">
              <a:off x="0" y="0"/>
              <a:ext cx="8757920" cy="101600"/>
            </a:xfrm>
            <a:custGeom>
              <a:avLst/>
              <a:gdLst/>
              <a:ahLst/>
              <a:cxnLst/>
              <a:rect r="r" b="b" t="t" l="l"/>
              <a:pathLst>
                <a:path h="101600" w="8757920">
                  <a:moveTo>
                    <a:pt x="0" y="0"/>
                  </a:moveTo>
                  <a:lnTo>
                    <a:pt x="8757920" y="101600"/>
                  </a:lnTo>
                </a:path>
              </a:pathLst>
            </a:custGeom>
            <a:blipFill>
              <a:blip r:embed="rId2">
                <a:alphaModFix amt="0"/>
              </a:blip>
              <a:stretch>
                <a:fillRect l="0" t="-1629610" r="0" b="-1629610"/>
              </a:stretch>
            </a:blipFill>
            <a:ln w="76200" cap="sq">
              <a:solidFill>
                <a:srgbClr val="0F4662"/>
              </a:solidFill>
              <a:prstDash val="solid"/>
              <a:miter/>
            </a:ln>
          </p:spPr>
        </p:sp>
      </p:grpSp>
      <p:sp>
        <p:nvSpPr>
          <p:cNvPr name="Freeform 5" id="5"/>
          <p:cNvSpPr/>
          <p:nvPr/>
        </p:nvSpPr>
        <p:spPr>
          <a:xfrm flipH="false" flipV="false" rot="0">
            <a:off x="8304000" y="1116663"/>
            <a:ext cx="1680000" cy="249898"/>
          </a:xfrm>
          <a:custGeom>
            <a:avLst/>
            <a:gdLst/>
            <a:ahLst/>
            <a:cxnLst/>
            <a:rect r="r" b="b" t="t" l="l"/>
            <a:pathLst>
              <a:path h="249898" w="1680000">
                <a:moveTo>
                  <a:pt x="0" y="0"/>
                </a:moveTo>
                <a:lnTo>
                  <a:pt x="1680000" y="0"/>
                </a:lnTo>
                <a:lnTo>
                  <a:pt x="1680000" y="249898"/>
                </a:lnTo>
                <a:lnTo>
                  <a:pt x="0" y="249898"/>
                </a:lnTo>
                <a:lnTo>
                  <a:pt x="0" y="0"/>
                </a:lnTo>
                <a:close/>
              </a:path>
            </a:pathLst>
          </a:custGeom>
          <a:blipFill>
            <a:blip r:embed="rId3">
              <a:extLst>
                <a:ext uri="{96DAC541-7B7A-43D3-8B79-37D633B846F1}">
                  <asvg:svgBlip xmlns:asvg="http://schemas.microsoft.com/office/drawing/2016/SVG/main" r:embed="rId4"/>
                </a:ext>
              </a:extLst>
            </a:blip>
            <a:stretch>
              <a:fillRect l="0" t="-1273" r="0" b="-1276"/>
            </a:stretch>
          </a:blipFill>
        </p:spPr>
      </p:sp>
      <p:grpSp>
        <p:nvGrpSpPr>
          <p:cNvPr name="Group 6" id="6"/>
          <p:cNvGrpSpPr/>
          <p:nvPr/>
        </p:nvGrpSpPr>
        <p:grpSpPr>
          <a:xfrm rot="0">
            <a:off x="5859780" y="8121787"/>
            <a:ext cx="6568440" cy="76200"/>
            <a:chOff x="0" y="0"/>
            <a:chExt cx="8757920" cy="101600"/>
          </a:xfrm>
        </p:grpSpPr>
        <p:sp>
          <p:nvSpPr>
            <p:cNvPr name="Freeform 7" id="7"/>
            <p:cNvSpPr/>
            <p:nvPr/>
          </p:nvSpPr>
          <p:spPr>
            <a:xfrm flipH="false" flipV="false" rot="0">
              <a:off x="0" y="0"/>
              <a:ext cx="8757920" cy="101600"/>
            </a:xfrm>
            <a:custGeom>
              <a:avLst/>
              <a:gdLst/>
              <a:ahLst/>
              <a:cxnLst/>
              <a:rect r="r" b="b" t="t" l="l"/>
              <a:pathLst>
                <a:path h="101600" w="8757920">
                  <a:moveTo>
                    <a:pt x="0" y="0"/>
                  </a:moveTo>
                  <a:lnTo>
                    <a:pt x="8757920" y="101600"/>
                  </a:lnTo>
                </a:path>
              </a:pathLst>
            </a:custGeom>
            <a:blipFill>
              <a:blip r:embed="rId2">
                <a:alphaModFix amt="0"/>
              </a:blip>
              <a:stretch>
                <a:fillRect l="0" t="-1629610" r="0" b="-1629610"/>
              </a:stretch>
            </a:blipFill>
            <a:ln w="76200" cap="sq">
              <a:solidFill>
                <a:srgbClr val="0F4662"/>
              </a:solidFill>
              <a:prstDash val="solid"/>
              <a:miter/>
            </a:ln>
          </p:spPr>
        </p:sp>
      </p:grpSp>
      <p:sp>
        <p:nvSpPr>
          <p:cNvPr name="Freeform 8" id="8"/>
          <p:cNvSpPr/>
          <p:nvPr/>
        </p:nvSpPr>
        <p:spPr>
          <a:xfrm flipH="false" flipV="false" rot="0">
            <a:off x="8304000" y="9008402"/>
            <a:ext cx="1680000" cy="249898"/>
          </a:xfrm>
          <a:custGeom>
            <a:avLst/>
            <a:gdLst/>
            <a:ahLst/>
            <a:cxnLst/>
            <a:rect r="r" b="b" t="t" l="l"/>
            <a:pathLst>
              <a:path h="249898" w="1680000">
                <a:moveTo>
                  <a:pt x="0" y="0"/>
                </a:moveTo>
                <a:lnTo>
                  <a:pt x="1680000" y="0"/>
                </a:lnTo>
                <a:lnTo>
                  <a:pt x="1680000" y="249898"/>
                </a:lnTo>
                <a:lnTo>
                  <a:pt x="0" y="249898"/>
                </a:lnTo>
                <a:lnTo>
                  <a:pt x="0" y="0"/>
                </a:lnTo>
                <a:close/>
              </a:path>
            </a:pathLst>
          </a:custGeom>
          <a:blipFill>
            <a:blip r:embed="rId3">
              <a:extLst>
                <a:ext uri="{96DAC541-7B7A-43D3-8B79-37D633B846F1}">
                  <asvg:svgBlip xmlns:asvg="http://schemas.microsoft.com/office/drawing/2016/SVG/main" r:embed="rId4"/>
                </a:ext>
              </a:extLst>
            </a:blip>
            <a:stretch>
              <a:fillRect l="0" t="-1273" r="0" b="-1276"/>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DAHMkWcVDYk</dc:identifier>
  <dcterms:modified xsi:type="dcterms:W3CDTF">2011-08-01T06:04:30Z</dcterms:modified>
  <cp:revision>1</cp:revision>
  <dc:title>Graduation Presentation .pptx</dc:title>
</cp:coreProperties>
</file>